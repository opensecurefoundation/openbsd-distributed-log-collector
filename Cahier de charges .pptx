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8" r:id="rId2"/>
    <p:sldId id="259" r:id="rId3"/>
    <p:sldId id="260" r:id="rId4"/>
    <p:sldId id="268" r:id="rId5"/>
    <p:sldId id="272" r:id="rId6"/>
    <p:sldId id="270" r:id="rId7"/>
    <p:sldId id="271" r:id="rId8"/>
    <p:sldId id="263" r:id="rId9"/>
    <p:sldId id="264" r:id="rId10"/>
    <p:sldId id="269" r:id="rId11"/>
    <p:sldId id="266" r:id="rId12"/>
    <p:sldId id="267" r:id="rId13"/>
    <p:sldId id="26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1E33"/>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BEF01-1ABE-44CB-B02B-14DB931758C0}" type="datetimeFigureOut">
              <a:rPr lang="fr-CM" smtClean="0"/>
              <a:t>23/01/2026</a:t>
            </a:fld>
            <a:endParaRPr lang="fr-C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9BD6DF-2006-4C97-8FC3-AFD3A5DAE16A}" type="slidenum">
              <a:rPr lang="fr-CM" smtClean="0"/>
              <a:t>‹N°›</a:t>
            </a:fld>
            <a:endParaRPr lang="fr-CM"/>
          </a:p>
        </p:txBody>
      </p:sp>
    </p:spTree>
    <p:extLst>
      <p:ext uri="{BB962C8B-B14F-4D97-AF65-F5344CB8AC3E}">
        <p14:creationId xmlns:p14="http://schemas.microsoft.com/office/powerpoint/2010/main" val="3482230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M" dirty="0"/>
          </a:p>
        </p:txBody>
      </p:sp>
      <p:sp>
        <p:nvSpPr>
          <p:cNvPr id="4" name="Slide Number Placeholder 3"/>
          <p:cNvSpPr>
            <a:spLocks noGrp="1"/>
          </p:cNvSpPr>
          <p:nvPr>
            <p:ph type="sldNum" sz="quarter" idx="5"/>
          </p:nvPr>
        </p:nvSpPr>
        <p:spPr/>
        <p:txBody>
          <a:bodyPr/>
          <a:lstStyle/>
          <a:p>
            <a:fld id="{569BD6DF-2006-4C97-8FC3-AFD3A5DAE16A}" type="slidenum">
              <a:rPr lang="fr-CM" smtClean="0"/>
              <a:t>6</a:t>
            </a:fld>
            <a:endParaRPr lang="fr-CM"/>
          </a:p>
        </p:txBody>
      </p:sp>
    </p:spTree>
    <p:extLst>
      <p:ext uri="{BB962C8B-B14F-4D97-AF65-F5344CB8AC3E}">
        <p14:creationId xmlns:p14="http://schemas.microsoft.com/office/powerpoint/2010/main" val="1002330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5407-BCD0-130C-5282-68AD04A5C0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r-CM"/>
          </a:p>
        </p:txBody>
      </p:sp>
      <p:sp>
        <p:nvSpPr>
          <p:cNvPr id="3" name="Subtitle 2">
            <a:extLst>
              <a:ext uri="{FF2B5EF4-FFF2-40B4-BE49-F238E27FC236}">
                <a16:creationId xmlns:a16="http://schemas.microsoft.com/office/drawing/2014/main" id="{DAD9688B-F42E-191A-498C-B640ECAFCE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r-CM"/>
          </a:p>
        </p:txBody>
      </p:sp>
      <p:sp>
        <p:nvSpPr>
          <p:cNvPr id="4" name="Date Placeholder 3">
            <a:extLst>
              <a:ext uri="{FF2B5EF4-FFF2-40B4-BE49-F238E27FC236}">
                <a16:creationId xmlns:a16="http://schemas.microsoft.com/office/drawing/2014/main" id="{57E5D78B-098E-D0D8-C3F4-46637DAB1A27}"/>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5" name="Footer Placeholder 4">
            <a:extLst>
              <a:ext uri="{FF2B5EF4-FFF2-40B4-BE49-F238E27FC236}">
                <a16:creationId xmlns:a16="http://schemas.microsoft.com/office/drawing/2014/main" id="{95052280-F63C-421F-8F71-84E09F9E638C}"/>
              </a:ext>
            </a:extLst>
          </p:cNvPr>
          <p:cNvSpPr>
            <a:spLocks noGrp="1"/>
          </p:cNvSpPr>
          <p:nvPr>
            <p:ph type="ftr" sz="quarter" idx="11"/>
          </p:nvPr>
        </p:nvSpPr>
        <p:spPr/>
        <p:txBody>
          <a:bodyPr/>
          <a:lstStyle/>
          <a:p>
            <a:endParaRPr lang="fr-CM"/>
          </a:p>
        </p:txBody>
      </p:sp>
      <p:sp>
        <p:nvSpPr>
          <p:cNvPr id="6" name="Slide Number Placeholder 5">
            <a:extLst>
              <a:ext uri="{FF2B5EF4-FFF2-40B4-BE49-F238E27FC236}">
                <a16:creationId xmlns:a16="http://schemas.microsoft.com/office/drawing/2014/main" id="{6DF440A6-EF8C-968B-379A-879735683E57}"/>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2665625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14BC4-3804-6961-F7F8-EF97F916BBBC}"/>
              </a:ext>
            </a:extLst>
          </p:cNvPr>
          <p:cNvSpPr>
            <a:spLocks noGrp="1"/>
          </p:cNvSpPr>
          <p:nvPr>
            <p:ph type="title"/>
          </p:nvPr>
        </p:nvSpPr>
        <p:spPr/>
        <p:txBody>
          <a:bodyPr/>
          <a:lstStyle/>
          <a:p>
            <a:r>
              <a:rPr lang="en-US"/>
              <a:t>Click to edit Master title style</a:t>
            </a:r>
            <a:endParaRPr lang="fr-CM"/>
          </a:p>
        </p:txBody>
      </p:sp>
      <p:sp>
        <p:nvSpPr>
          <p:cNvPr id="3" name="Content Placeholder 2">
            <a:extLst>
              <a:ext uri="{FF2B5EF4-FFF2-40B4-BE49-F238E27FC236}">
                <a16:creationId xmlns:a16="http://schemas.microsoft.com/office/drawing/2014/main" id="{E07B60BA-ACBA-1B63-7B64-8F0399BC53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4" name="Date Placeholder 3">
            <a:extLst>
              <a:ext uri="{FF2B5EF4-FFF2-40B4-BE49-F238E27FC236}">
                <a16:creationId xmlns:a16="http://schemas.microsoft.com/office/drawing/2014/main" id="{BC5CE6EC-613F-5F87-86FB-CCBD6F43908C}"/>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5" name="Footer Placeholder 4">
            <a:extLst>
              <a:ext uri="{FF2B5EF4-FFF2-40B4-BE49-F238E27FC236}">
                <a16:creationId xmlns:a16="http://schemas.microsoft.com/office/drawing/2014/main" id="{B1CF1A19-170C-3C72-1F9F-833C71B0221C}"/>
              </a:ext>
            </a:extLst>
          </p:cNvPr>
          <p:cNvSpPr>
            <a:spLocks noGrp="1"/>
          </p:cNvSpPr>
          <p:nvPr>
            <p:ph type="ftr" sz="quarter" idx="11"/>
          </p:nvPr>
        </p:nvSpPr>
        <p:spPr/>
        <p:txBody>
          <a:bodyPr/>
          <a:lstStyle/>
          <a:p>
            <a:endParaRPr lang="fr-CM"/>
          </a:p>
        </p:txBody>
      </p:sp>
      <p:sp>
        <p:nvSpPr>
          <p:cNvPr id="6" name="Slide Number Placeholder 5">
            <a:extLst>
              <a:ext uri="{FF2B5EF4-FFF2-40B4-BE49-F238E27FC236}">
                <a16:creationId xmlns:a16="http://schemas.microsoft.com/office/drawing/2014/main" id="{89A077D0-B74B-0FD0-A67A-FAC0A0DAD142}"/>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2908258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0F93F-95FC-CED2-401C-3FDDA18693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r-CM"/>
          </a:p>
        </p:txBody>
      </p:sp>
      <p:sp>
        <p:nvSpPr>
          <p:cNvPr id="3" name="Text Placeholder 2">
            <a:extLst>
              <a:ext uri="{FF2B5EF4-FFF2-40B4-BE49-F238E27FC236}">
                <a16:creationId xmlns:a16="http://schemas.microsoft.com/office/drawing/2014/main" id="{4AB0F109-A9F0-81CA-BC65-F03B25425A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4838D0-61D4-72F9-2103-DBE24A3A0747}"/>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5" name="Footer Placeholder 4">
            <a:extLst>
              <a:ext uri="{FF2B5EF4-FFF2-40B4-BE49-F238E27FC236}">
                <a16:creationId xmlns:a16="http://schemas.microsoft.com/office/drawing/2014/main" id="{A16CB75C-6717-7D21-AB87-569206EF7BFF}"/>
              </a:ext>
            </a:extLst>
          </p:cNvPr>
          <p:cNvSpPr>
            <a:spLocks noGrp="1"/>
          </p:cNvSpPr>
          <p:nvPr>
            <p:ph type="ftr" sz="quarter" idx="11"/>
          </p:nvPr>
        </p:nvSpPr>
        <p:spPr/>
        <p:txBody>
          <a:bodyPr/>
          <a:lstStyle/>
          <a:p>
            <a:endParaRPr lang="fr-CM"/>
          </a:p>
        </p:txBody>
      </p:sp>
      <p:sp>
        <p:nvSpPr>
          <p:cNvPr id="6" name="Slide Number Placeholder 5">
            <a:extLst>
              <a:ext uri="{FF2B5EF4-FFF2-40B4-BE49-F238E27FC236}">
                <a16:creationId xmlns:a16="http://schemas.microsoft.com/office/drawing/2014/main" id="{98462CD1-A3B6-C0D3-6BFD-A0101746DE75}"/>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1290906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9E29-6A0C-9504-FF99-2438FBA64CF2}"/>
              </a:ext>
            </a:extLst>
          </p:cNvPr>
          <p:cNvSpPr>
            <a:spLocks noGrp="1"/>
          </p:cNvSpPr>
          <p:nvPr>
            <p:ph type="title"/>
          </p:nvPr>
        </p:nvSpPr>
        <p:spPr/>
        <p:txBody>
          <a:bodyPr/>
          <a:lstStyle/>
          <a:p>
            <a:r>
              <a:rPr lang="en-US"/>
              <a:t>Click to edit Master title style</a:t>
            </a:r>
            <a:endParaRPr lang="fr-CM"/>
          </a:p>
        </p:txBody>
      </p:sp>
      <p:sp>
        <p:nvSpPr>
          <p:cNvPr id="3" name="Content Placeholder 2">
            <a:extLst>
              <a:ext uri="{FF2B5EF4-FFF2-40B4-BE49-F238E27FC236}">
                <a16:creationId xmlns:a16="http://schemas.microsoft.com/office/drawing/2014/main" id="{8A2BF2FC-F7A1-F7A9-3100-27EA3FB5CB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4" name="Content Placeholder 3">
            <a:extLst>
              <a:ext uri="{FF2B5EF4-FFF2-40B4-BE49-F238E27FC236}">
                <a16:creationId xmlns:a16="http://schemas.microsoft.com/office/drawing/2014/main" id="{B7E2F1A3-6019-089A-3020-D26F2E3878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5" name="Date Placeholder 4">
            <a:extLst>
              <a:ext uri="{FF2B5EF4-FFF2-40B4-BE49-F238E27FC236}">
                <a16:creationId xmlns:a16="http://schemas.microsoft.com/office/drawing/2014/main" id="{E6F669BE-6EE6-8105-9BDB-BD528CF0C667}"/>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6" name="Footer Placeholder 5">
            <a:extLst>
              <a:ext uri="{FF2B5EF4-FFF2-40B4-BE49-F238E27FC236}">
                <a16:creationId xmlns:a16="http://schemas.microsoft.com/office/drawing/2014/main" id="{F9535937-A385-DF37-4C05-4FE5DEA86AF6}"/>
              </a:ext>
            </a:extLst>
          </p:cNvPr>
          <p:cNvSpPr>
            <a:spLocks noGrp="1"/>
          </p:cNvSpPr>
          <p:nvPr>
            <p:ph type="ftr" sz="quarter" idx="11"/>
          </p:nvPr>
        </p:nvSpPr>
        <p:spPr/>
        <p:txBody>
          <a:bodyPr/>
          <a:lstStyle/>
          <a:p>
            <a:endParaRPr lang="fr-CM"/>
          </a:p>
        </p:txBody>
      </p:sp>
      <p:sp>
        <p:nvSpPr>
          <p:cNvPr id="7" name="Slide Number Placeholder 6">
            <a:extLst>
              <a:ext uri="{FF2B5EF4-FFF2-40B4-BE49-F238E27FC236}">
                <a16:creationId xmlns:a16="http://schemas.microsoft.com/office/drawing/2014/main" id="{5D745FD4-4D4D-C169-1C84-4E5E8527676A}"/>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993797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2629-69C8-87EA-F533-AFA93C879FA5}"/>
              </a:ext>
            </a:extLst>
          </p:cNvPr>
          <p:cNvSpPr>
            <a:spLocks noGrp="1"/>
          </p:cNvSpPr>
          <p:nvPr>
            <p:ph type="title"/>
          </p:nvPr>
        </p:nvSpPr>
        <p:spPr>
          <a:xfrm>
            <a:off x="839788" y="365125"/>
            <a:ext cx="10515600" cy="1325563"/>
          </a:xfrm>
        </p:spPr>
        <p:txBody>
          <a:bodyPr/>
          <a:lstStyle/>
          <a:p>
            <a:r>
              <a:rPr lang="en-US"/>
              <a:t>Click to edit Master title style</a:t>
            </a:r>
            <a:endParaRPr lang="fr-CM"/>
          </a:p>
        </p:txBody>
      </p:sp>
      <p:sp>
        <p:nvSpPr>
          <p:cNvPr id="3" name="Text Placeholder 2">
            <a:extLst>
              <a:ext uri="{FF2B5EF4-FFF2-40B4-BE49-F238E27FC236}">
                <a16:creationId xmlns:a16="http://schemas.microsoft.com/office/drawing/2014/main" id="{D4168694-96EC-B35F-688B-18E08E7BAC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FCA777-F93E-5191-2440-35DB8E19E6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5" name="Text Placeholder 4">
            <a:extLst>
              <a:ext uri="{FF2B5EF4-FFF2-40B4-BE49-F238E27FC236}">
                <a16:creationId xmlns:a16="http://schemas.microsoft.com/office/drawing/2014/main" id="{F01F8E01-FEB3-2F0B-A674-1EE45EE525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630E0DF-475B-7F11-8E43-3FCAEEF4A1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7" name="Date Placeholder 6">
            <a:extLst>
              <a:ext uri="{FF2B5EF4-FFF2-40B4-BE49-F238E27FC236}">
                <a16:creationId xmlns:a16="http://schemas.microsoft.com/office/drawing/2014/main" id="{08C760C8-CECC-E171-9045-1072FC75D262}"/>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8" name="Footer Placeholder 7">
            <a:extLst>
              <a:ext uri="{FF2B5EF4-FFF2-40B4-BE49-F238E27FC236}">
                <a16:creationId xmlns:a16="http://schemas.microsoft.com/office/drawing/2014/main" id="{2EE82D0A-B8BE-F95B-3B1D-1F837EE18CFE}"/>
              </a:ext>
            </a:extLst>
          </p:cNvPr>
          <p:cNvSpPr>
            <a:spLocks noGrp="1"/>
          </p:cNvSpPr>
          <p:nvPr>
            <p:ph type="ftr" sz="quarter" idx="11"/>
          </p:nvPr>
        </p:nvSpPr>
        <p:spPr/>
        <p:txBody>
          <a:bodyPr/>
          <a:lstStyle/>
          <a:p>
            <a:endParaRPr lang="fr-CM"/>
          </a:p>
        </p:txBody>
      </p:sp>
      <p:sp>
        <p:nvSpPr>
          <p:cNvPr id="9" name="Slide Number Placeholder 8">
            <a:extLst>
              <a:ext uri="{FF2B5EF4-FFF2-40B4-BE49-F238E27FC236}">
                <a16:creationId xmlns:a16="http://schemas.microsoft.com/office/drawing/2014/main" id="{B6CD5B7B-5714-85E3-51C0-78DFD77A2E8A}"/>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45116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A321-D521-F7E9-7301-2B869B100C78}"/>
              </a:ext>
            </a:extLst>
          </p:cNvPr>
          <p:cNvSpPr>
            <a:spLocks noGrp="1"/>
          </p:cNvSpPr>
          <p:nvPr>
            <p:ph type="title"/>
          </p:nvPr>
        </p:nvSpPr>
        <p:spPr/>
        <p:txBody>
          <a:bodyPr/>
          <a:lstStyle/>
          <a:p>
            <a:r>
              <a:rPr lang="en-US"/>
              <a:t>Click to edit Master title style</a:t>
            </a:r>
            <a:endParaRPr lang="fr-CM"/>
          </a:p>
        </p:txBody>
      </p:sp>
      <p:sp>
        <p:nvSpPr>
          <p:cNvPr id="3" name="Date Placeholder 2">
            <a:extLst>
              <a:ext uri="{FF2B5EF4-FFF2-40B4-BE49-F238E27FC236}">
                <a16:creationId xmlns:a16="http://schemas.microsoft.com/office/drawing/2014/main" id="{61DB5088-693A-AC7F-9C46-A675A831515F}"/>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4" name="Footer Placeholder 3">
            <a:extLst>
              <a:ext uri="{FF2B5EF4-FFF2-40B4-BE49-F238E27FC236}">
                <a16:creationId xmlns:a16="http://schemas.microsoft.com/office/drawing/2014/main" id="{C3BCBB22-C45A-A43C-3EFE-D99CB05FABBC}"/>
              </a:ext>
            </a:extLst>
          </p:cNvPr>
          <p:cNvSpPr>
            <a:spLocks noGrp="1"/>
          </p:cNvSpPr>
          <p:nvPr>
            <p:ph type="ftr" sz="quarter" idx="11"/>
          </p:nvPr>
        </p:nvSpPr>
        <p:spPr/>
        <p:txBody>
          <a:bodyPr/>
          <a:lstStyle/>
          <a:p>
            <a:endParaRPr lang="fr-CM"/>
          </a:p>
        </p:txBody>
      </p:sp>
      <p:sp>
        <p:nvSpPr>
          <p:cNvPr id="5" name="Slide Number Placeholder 4">
            <a:extLst>
              <a:ext uri="{FF2B5EF4-FFF2-40B4-BE49-F238E27FC236}">
                <a16:creationId xmlns:a16="http://schemas.microsoft.com/office/drawing/2014/main" id="{757FC2C9-F569-D290-8E93-39B37762B833}"/>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235317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D8AA99-5F89-DF97-38D5-A8DBCEB47F4A}"/>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3" name="Footer Placeholder 2">
            <a:extLst>
              <a:ext uri="{FF2B5EF4-FFF2-40B4-BE49-F238E27FC236}">
                <a16:creationId xmlns:a16="http://schemas.microsoft.com/office/drawing/2014/main" id="{F97B218B-09CD-ED24-E54B-820173DB9E38}"/>
              </a:ext>
            </a:extLst>
          </p:cNvPr>
          <p:cNvSpPr>
            <a:spLocks noGrp="1"/>
          </p:cNvSpPr>
          <p:nvPr>
            <p:ph type="ftr" sz="quarter" idx="11"/>
          </p:nvPr>
        </p:nvSpPr>
        <p:spPr/>
        <p:txBody>
          <a:bodyPr/>
          <a:lstStyle/>
          <a:p>
            <a:endParaRPr lang="fr-CM"/>
          </a:p>
        </p:txBody>
      </p:sp>
      <p:sp>
        <p:nvSpPr>
          <p:cNvPr id="4" name="Slide Number Placeholder 3">
            <a:extLst>
              <a:ext uri="{FF2B5EF4-FFF2-40B4-BE49-F238E27FC236}">
                <a16:creationId xmlns:a16="http://schemas.microsoft.com/office/drawing/2014/main" id="{E90DE108-A4B9-48A8-3DFA-3A6D62E61F93}"/>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1951202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BBA5C-54AD-6DD8-6611-58024DB60E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M"/>
          </a:p>
        </p:txBody>
      </p:sp>
      <p:sp>
        <p:nvSpPr>
          <p:cNvPr id="3" name="Content Placeholder 2">
            <a:extLst>
              <a:ext uri="{FF2B5EF4-FFF2-40B4-BE49-F238E27FC236}">
                <a16:creationId xmlns:a16="http://schemas.microsoft.com/office/drawing/2014/main" id="{9A3CD3ED-C932-53EB-75C0-E5BE433097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4" name="Text Placeholder 3">
            <a:extLst>
              <a:ext uri="{FF2B5EF4-FFF2-40B4-BE49-F238E27FC236}">
                <a16:creationId xmlns:a16="http://schemas.microsoft.com/office/drawing/2014/main" id="{262CB29B-0787-4744-F933-7593EE9FAF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A5EA5A-98DE-1294-ABF3-AB62F428DC32}"/>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6" name="Footer Placeholder 5">
            <a:extLst>
              <a:ext uri="{FF2B5EF4-FFF2-40B4-BE49-F238E27FC236}">
                <a16:creationId xmlns:a16="http://schemas.microsoft.com/office/drawing/2014/main" id="{30FA8D8E-34AE-FAB6-1B1B-4D94E3F2C99F}"/>
              </a:ext>
            </a:extLst>
          </p:cNvPr>
          <p:cNvSpPr>
            <a:spLocks noGrp="1"/>
          </p:cNvSpPr>
          <p:nvPr>
            <p:ph type="ftr" sz="quarter" idx="11"/>
          </p:nvPr>
        </p:nvSpPr>
        <p:spPr/>
        <p:txBody>
          <a:bodyPr/>
          <a:lstStyle/>
          <a:p>
            <a:endParaRPr lang="fr-CM"/>
          </a:p>
        </p:txBody>
      </p:sp>
      <p:sp>
        <p:nvSpPr>
          <p:cNvPr id="7" name="Slide Number Placeholder 6">
            <a:extLst>
              <a:ext uri="{FF2B5EF4-FFF2-40B4-BE49-F238E27FC236}">
                <a16:creationId xmlns:a16="http://schemas.microsoft.com/office/drawing/2014/main" id="{CBC78F9B-051B-4B47-7BD1-023E501E90FE}"/>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643064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34C2A-7C2E-4B93-A179-04A463F69A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r-CM"/>
          </a:p>
        </p:txBody>
      </p:sp>
      <p:sp>
        <p:nvSpPr>
          <p:cNvPr id="3" name="Picture Placeholder 2">
            <a:extLst>
              <a:ext uri="{FF2B5EF4-FFF2-40B4-BE49-F238E27FC236}">
                <a16:creationId xmlns:a16="http://schemas.microsoft.com/office/drawing/2014/main" id="{268D609A-12C5-B9DC-72E9-309BA559C8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M"/>
          </a:p>
        </p:txBody>
      </p:sp>
      <p:sp>
        <p:nvSpPr>
          <p:cNvPr id="4" name="Text Placeholder 3">
            <a:extLst>
              <a:ext uri="{FF2B5EF4-FFF2-40B4-BE49-F238E27FC236}">
                <a16:creationId xmlns:a16="http://schemas.microsoft.com/office/drawing/2014/main" id="{195BA925-CB93-7583-2A72-D2D589029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D8C20-3FBA-2B25-87FE-E91EC11EA7CC}"/>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6" name="Footer Placeholder 5">
            <a:extLst>
              <a:ext uri="{FF2B5EF4-FFF2-40B4-BE49-F238E27FC236}">
                <a16:creationId xmlns:a16="http://schemas.microsoft.com/office/drawing/2014/main" id="{FD531FDA-D773-F98D-F127-2C96FF2294F4}"/>
              </a:ext>
            </a:extLst>
          </p:cNvPr>
          <p:cNvSpPr>
            <a:spLocks noGrp="1"/>
          </p:cNvSpPr>
          <p:nvPr>
            <p:ph type="ftr" sz="quarter" idx="11"/>
          </p:nvPr>
        </p:nvSpPr>
        <p:spPr/>
        <p:txBody>
          <a:bodyPr/>
          <a:lstStyle/>
          <a:p>
            <a:endParaRPr lang="fr-CM"/>
          </a:p>
        </p:txBody>
      </p:sp>
      <p:sp>
        <p:nvSpPr>
          <p:cNvPr id="7" name="Slide Number Placeholder 6">
            <a:extLst>
              <a:ext uri="{FF2B5EF4-FFF2-40B4-BE49-F238E27FC236}">
                <a16:creationId xmlns:a16="http://schemas.microsoft.com/office/drawing/2014/main" id="{20B3E8CE-C57C-7A1C-7DD7-C556F35203E6}"/>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4271325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2EE79-4BB3-0F54-4591-89BC33EFEB2A}"/>
              </a:ext>
            </a:extLst>
          </p:cNvPr>
          <p:cNvSpPr>
            <a:spLocks noGrp="1"/>
          </p:cNvSpPr>
          <p:nvPr>
            <p:ph type="title"/>
          </p:nvPr>
        </p:nvSpPr>
        <p:spPr/>
        <p:txBody>
          <a:bodyPr/>
          <a:lstStyle/>
          <a:p>
            <a:r>
              <a:rPr lang="en-US"/>
              <a:t>Click to edit Master title style</a:t>
            </a:r>
            <a:endParaRPr lang="fr-CM"/>
          </a:p>
        </p:txBody>
      </p:sp>
      <p:sp>
        <p:nvSpPr>
          <p:cNvPr id="3" name="Vertical Text Placeholder 2">
            <a:extLst>
              <a:ext uri="{FF2B5EF4-FFF2-40B4-BE49-F238E27FC236}">
                <a16:creationId xmlns:a16="http://schemas.microsoft.com/office/drawing/2014/main" id="{2B089D6A-76ED-ED46-7CD1-A8930C486B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4" name="Date Placeholder 3">
            <a:extLst>
              <a:ext uri="{FF2B5EF4-FFF2-40B4-BE49-F238E27FC236}">
                <a16:creationId xmlns:a16="http://schemas.microsoft.com/office/drawing/2014/main" id="{107E8DB4-C1A4-C8EF-90AC-2EE326B709FD}"/>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5" name="Footer Placeholder 4">
            <a:extLst>
              <a:ext uri="{FF2B5EF4-FFF2-40B4-BE49-F238E27FC236}">
                <a16:creationId xmlns:a16="http://schemas.microsoft.com/office/drawing/2014/main" id="{FF6EFD83-2516-2159-70DF-10C647623DA0}"/>
              </a:ext>
            </a:extLst>
          </p:cNvPr>
          <p:cNvSpPr>
            <a:spLocks noGrp="1"/>
          </p:cNvSpPr>
          <p:nvPr>
            <p:ph type="ftr" sz="quarter" idx="11"/>
          </p:nvPr>
        </p:nvSpPr>
        <p:spPr/>
        <p:txBody>
          <a:bodyPr/>
          <a:lstStyle/>
          <a:p>
            <a:endParaRPr lang="fr-CM"/>
          </a:p>
        </p:txBody>
      </p:sp>
      <p:sp>
        <p:nvSpPr>
          <p:cNvPr id="6" name="Slide Number Placeholder 5">
            <a:extLst>
              <a:ext uri="{FF2B5EF4-FFF2-40B4-BE49-F238E27FC236}">
                <a16:creationId xmlns:a16="http://schemas.microsoft.com/office/drawing/2014/main" id="{2E559F36-C0BE-26DC-7892-E4AFC608E8E4}"/>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3349964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8E7509-47A5-62EF-6C4C-E1D037855A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r-CM"/>
          </a:p>
        </p:txBody>
      </p:sp>
      <p:sp>
        <p:nvSpPr>
          <p:cNvPr id="3" name="Vertical Text Placeholder 2">
            <a:extLst>
              <a:ext uri="{FF2B5EF4-FFF2-40B4-BE49-F238E27FC236}">
                <a16:creationId xmlns:a16="http://schemas.microsoft.com/office/drawing/2014/main" id="{6FCA80B6-5ABE-6368-1BBD-7E4AA0C7A7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4" name="Date Placeholder 3">
            <a:extLst>
              <a:ext uri="{FF2B5EF4-FFF2-40B4-BE49-F238E27FC236}">
                <a16:creationId xmlns:a16="http://schemas.microsoft.com/office/drawing/2014/main" id="{C064E847-F4BF-4FC6-419B-6D8F0A082C0C}"/>
              </a:ext>
            </a:extLst>
          </p:cNvPr>
          <p:cNvSpPr>
            <a:spLocks noGrp="1"/>
          </p:cNvSpPr>
          <p:nvPr>
            <p:ph type="dt" sz="half" idx="10"/>
          </p:nvPr>
        </p:nvSpPr>
        <p:spPr/>
        <p:txBody>
          <a:bodyPr/>
          <a:lstStyle/>
          <a:p>
            <a:fld id="{7A99DB6B-EC44-47C3-B3B3-3230DD03F1EC}" type="datetimeFigureOut">
              <a:rPr lang="fr-CM" smtClean="0"/>
              <a:t>23/01/2026</a:t>
            </a:fld>
            <a:endParaRPr lang="fr-CM"/>
          </a:p>
        </p:txBody>
      </p:sp>
      <p:sp>
        <p:nvSpPr>
          <p:cNvPr id="5" name="Footer Placeholder 4">
            <a:extLst>
              <a:ext uri="{FF2B5EF4-FFF2-40B4-BE49-F238E27FC236}">
                <a16:creationId xmlns:a16="http://schemas.microsoft.com/office/drawing/2014/main" id="{D605EC6C-E3D6-FDAA-1830-F940B1FDCA3D}"/>
              </a:ext>
            </a:extLst>
          </p:cNvPr>
          <p:cNvSpPr>
            <a:spLocks noGrp="1"/>
          </p:cNvSpPr>
          <p:nvPr>
            <p:ph type="ftr" sz="quarter" idx="11"/>
          </p:nvPr>
        </p:nvSpPr>
        <p:spPr/>
        <p:txBody>
          <a:bodyPr/>
          <a:lstStyle/>
          <a:p>
            <a:endParaRPr lang="fr-CM"/>
          </a:p>
        </p:txBody>
      </p:sp>
      <p:sp>
        <p:nvSpPr>
          <p:cNvPr id="6" name="Slide Number Placeholder 5">
            <a:extLst>
              <a:ext uri="{FF2B5EF4-FFF2-40B4-BE49-F238E27FC236}">
                <a16:creationId xmlns:a16="http://schemas.microsoft.com/office/drawing/2014/main" id="{2733967A-4722-E2E8-9513-5D3576965281}"/>
              </a:ext>
            </a:extLst>
          </p:cNvPr>
          <p:cNvSpPr>
            <a:spLocks noGrp="1"/>
          </p:cNvSpPr>
          <p:nvPr>
            <p:ph type="sldNum" sz="quarter" idx="12"/>
          </p:nvPr>
        </p:nvSpPr>
        <p:spPr/>
        <p:txBody>
          <a:bodyPr/>
          <a:lstStyle/>
          <a:p>
            <a:fld id="{C7CDCF06-313B-4186-BF82-D85377B27180}" type="slidenum">
              <a:rPr lang="fr-CM" smtClean="0"/>
              <a:t>‹N°›</a:t>
            </a:fld>
            <a:endParaRPr lang="fr-CM"/>
          </a:p>
        </p:txBody>
      </p:sp>
    </p:spTree>
    <p:extLst>
      <p:ext uri="{BB962C8B-B14F-4D97-AF65-F5344CB8AC3E}">
        <p14:creationId xmlns:p14="http://schemas.microsoft.com/office/powerpoint/2010/main" val="1453128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DCB052-7DD9-3F0B-ECE0-94EB1C425D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r-CM"/>
          </a:p>
        </p:txBody>
      </p:sp>
      <p:sp>
        <p:nvSpPr>
          <p:cNvPr id="3" name="Text Placeholder 2">
            <a:extLst>
              <a:ext uri="{FF2B5EF4-FFF2-40B4-BE49-F238E27FC236}">
                <a16:creationId xmlns:a16="http://schemas.microsoft.com/office/drawing/2014/main" id="{6F2010F8-547F-C0F5-7EB9-F69FC5CD6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4" name="Date Placeholder 3">
            <a:extLst>
              <a:ext uri="{FF2B5EF4-FFF2-40B4-BE49-F238E27FC236}">
                <a16:creationId xmlns:a16="http://schemas.microsoft.com/office/drawing/2014/main" id="{4D2EE37B-42CD-1419-EAC1-3349B55800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99DB6B-EC44-47C3-B3B3-3230DD03F1EC}" type="datetimeFigureOut">
              <a:rPr lang="fr-CM" smtClean="0"/>
              <a:t>23/01/2026</a:t>
            </a:fld>
            <a:endParaRPr lang="fr-CM"/>
          </a:p>
        </p:txBody>
      </p:sp>
      <p:sp>
        <p:nvSpPr>
          <p:cNvPr id="5" name="Footer Placeholder 4">
            <a:extLst>
              <a:ext uri="{FF2B5EF4-FFF2-40B4-BE49-F238E27FC236}">
                <a16:creationId xmlns:a16="http://schemas.microsoft.com/office/drawing/2014/main" id="{DBDD6BCD-E3FA-6070-D5C4-DD0E7C6B60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M"/>
          </a:p>
        </p:txBody>
      </p:sp>
      <p:sp>
        <p:nvSpPr>
          <p:cNvPr id="6" name="Slide Number Placeholder 5">
            <a:extLst>
              <a:ext uri="{FF2B5EF4-FFF2-40B4-BE49-F238E27FC236}">
                <a16:creationId xmlns:a16="http://schemas.microsoft.com/office/drawing/2014/main" id="{75ECFCED-6F93-EE3F-2822-46F7848C97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CDCF06-313B-4186-BF82-D85377B27180}" type="slidenum">
              <a:rPr lang="fr-CM" smtClean="0"/>
              <a:t>‹N°›</a:t>
            </a:fld>
            <a:endParaRPr lang="fr-CM"/>
          </a:p>
        </p:txBody>
      </p:sp>
    </p:spTree>
    <p:extLst>
      <p:ext uri="{BB962C8B-B14F-4D97-AF65-F5344CB8AC3E}">
        <p14:creationId xmlns:p14="http://schemas.microsoft.com/office/powerpoint/2010/main" val="604970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C306BB-5EA9-2643-A527-FE18912B4604}"/>
              </a:ext>
            </a:extLst>
          </p:cNvPr>
          <p:cNvPicPr/>
          <p:nvPr/>
        </p:nvPicPr>
        <p:blipFill>
          <a:blip r:embed="rId2"/>
          <a:stretch>
            <a:fillRect/>
          </a:stretch>
        </p:blipFill>
        <p:spPr>
          <a:xfrm>
            <a:off x="3679870" y="-140677"/>
            <a:ext cx="4832257" cy="1392701"/>
          </a:xfrm>
          <a:prstGeom prst="rect">
            <a:avLst/>
          </a:prstGeom>
        </p:spPr>
      </p:pic>
      <p:sp>
        <p:nvSpPr>
          <p:cNvPr id="6" name="Rectangle 5">
            <a:extLst>
              <a:ext uri="{FF2B5EF4-FFF2-40B4-BE49-F238E27FC236}">
                <a16:creationId xmlns:a16="http://schemas.microsoft.com/office/drawing/2014/main" id="{18227E00-B49A-9E3E-3C38-8C648E590A20}"/>
              </a:ext>
            </a:extLst>
          </p:cNvPr>
          <p:cNvSpPr/>
          <p:nvPr/>
        </p:nvSpPr>
        <p:spPr>
          <a:xfrm>
            <a:off x="2313360" y="5039011"/>
            <a:ext cx="8054528" cy="1077218"/>
          </a:xfrm>
          <a:prstGeom prst="rect">
            <a:avLst/>
          </a:prstGeom>
          <a:noFill/>
        </p:spPr>
        <p:txBody>
          <a:bodyPr wrap="square" lIns="91440" tIns="45720" rIns="91440" bIns="45720">
            <a:spAutoFit/>
          </a:bodyPr>
          <a:lstStyle/>
          <a:p>
            <a:pPr algn="ctr"/>
            <a:r>
              <a:rPr lang="en-US" sz="3200" b="0" cap="none" spc="0" dirty="0">
                <a:ln w="0"/>
                <a:solidFill>
                  <a:schemeClr val="tx1">
                    <a:lumMod val="95000"/>
                    <a:lumOff val="5000"/>
                  </a:schemeClr>
                </a:solidFill>
                <a:effectLst>
                  <a:outerShdw blurRad="38100" dist="25400" dir="5400000" algn="ctr" rotWithShape="0">
                    <a:srgbClr val="6E747A">
                      <a:alpha val="43000"/>
                    </a:srgbClr>
                  </a:outerShdw>
                </a:effectLst>
              </a:rPr>
              <a:t>MEMBRES: - </a:t>
            </a:r>
            <a:r>
              <a:rPr lang="fr-CM" sz="3200" b="1" dirty="0"/>
              <a:t>MONGUE YOSSI Yvan Raphael</a:t>
            </a:r>
          </a:p>
          <a:p>
            <a:pPr algn="ctr"/>
            <a:r>
              <a:rPr lang="fr-CM" sz="3200" b="1" dirty="0"/>
              <a:t>        - NANA NDIEUPE Emilie</a:t>
            </a:r>
            <a:endParaRPr lang="en-US" sz="6000" b="1" cap="none" spc="0" dirty="0">
              <a:ln w="0"/>
              <a:solidFill>
                <a:schemeClr val="accent1"/>
              </a:solidFill>
              <a:effectLst>
                <a:outerShdw blurRad="38100" dist="25400" dir="5400000" algn="ctr" rotWithShape="0">
                  <a:srgbClr val="6E747A">
                    <a:alpha val="43000"/>
                  </a:srgbClr>
                </a:outerShdw>
              </a:effectLst>
            </a:endParaRPr>
          </a:p>
        </p:txBody>
      </p:sp>
      <p:sp>
        <p:nvSpPr>
          <p:cNvPr id="7" name="Rectangle 6">
            <a:extLst>
              <a:ext uri="{FF2B5EF4-FFF2-40B4-BE49-F238E27FC236}">
                <a16:creationId xmlns:a16="http://schemas.microsoft.com/office/drawing/2014/main" id="{F9DBCEAF-E432-A237-AEAB-7CE2003060EC}"/>
              </a:ext>
            </a:extLst>
          </p:cNvPr>
          <p:cNvSpPr/>
          <p:nvPr/>
        </p:nvSpPr>
        <p:spPr>
          <a:xfrm>
            <a:off x="1305948" y="6116229"/>
            <a:ext cx="9580099" cy="523220"/>
          </a:xfrm>
          <a:prstGeom prst="rect">
            <a:avLst/>
          </a:prstGeom>
          <a:noFill/>
        </p:spPr>
        <p:txBody>
          <a:bodyPr wrap="square" lIns="91440" tIns="45720" rIns="91440" bIns="45720">
            <a:spAutoFit/>
          </a:bodyPr>
          <a:lstStyle/>
          <a:p>
            <a:pPr algn="ctr"/>
            <a:r>
              <a:rPr lang="fr-FR" sz="2800" cap="none" spc="0" dirty="0">
                <a:ln w="0"/>
                <a:solidFill>
                  <a:schemeClr val="tx1">
                    <a:lumMod val="95000"/>
                    <a:lumOff val="5000"/>
                  </a:schemeClr>
                </a:solidFill>
                <a:effectLst>
                  <a:outerShdw blurRad="38100" dist="25400" dir="5400000" algn="ctr" rotWithShape="0">
                    <a:srgbClr val="6E747A">
                      <a:alpha val="43000"/>
                    </a:srgbClr>
                  </a:outerShdw>
                </a:effectLst>
              </a:rPr>
              <a:t>SUPERVISE PAR: M NGUIMBUS</a:t>
            </a:r>
            <a:endParaRPr lang="en-US" sz="4400" cap="none" spc="0" dirty="0">
              <a:ln w="0"/>
              <a:solidFill>
                <a:schemeClr val="tx1">
                  <a:lumMod val="95000"/>
                  <a:lumOff val="5000"/>
                </a:schemeClr>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F103DD01-0079-022D-6EB4-02D0260A8715}"/>
              </a:ext>
            </a:extLst>
          </p:cNvPr>
          <p:cNvSpPr/>
          <p:nvPr/>
        </p:nvSpPr>
        <p:spPr>
          <a:xfrm>
            <a:off x="1305947" y="4563278"/>
            <a:ext cx="9580099" cy="400110"/>
          </a:xfrm>
          <a:prstGeom prst="rect">
            <a:avLst/>
          </a:prstGeom>
          <a:noFill/>
        </p:spPr>
        <p:txBody>
          <a:bodyPr wrap="square" lIns="91440" tIns="45720" rIns="91440" bIns="45720">
            <a:spAutoFit/>
          </a:bodyPr>
          <a:lstStyle/>
          <a:p>
            <a:pPr algn="ctr"/>
            <a:r>
              <a:rPr lang="fr-FR" sz="2000" b="1" cap="none" spc="0" dirty="0">
                <a:ln w="0"/>
                <a:solidFill>
                  <a:schemeClr val="tx1">
                    <a:lumMod val="95000"/>
                    <a:lumOff val="5000"/>
                  </a:schemeClr>
                </a:solidFill>
                <a:effectLst>
                  <a:outerShdw blurRad="38100" dist="25400" dir="5400000" algn="ctr" rotWithShape="0">
                    <a:srgbClr val="6E747A">
                      <a:alpha val="43000"/>
                    </a:srgbClr>
                  </a:outerShdw>
                </a:effectLst>
              </a:rPr>
              <a:t>PROJET D’ETUDE SE - MASTER 1 SSI - GROUPE 12</a:t>
            </a:r>
            <a:endParaRPr lang="en-US" sz="3600" b="1" cap="none" spc="0" dirty="0">
              <a:ln w="0"/>
              <a:solidFill>
                <a:schemeClr val="tx1">
                  <a:lumMod val="95000"/>
                  <a:lumOff val="5000"/>
                </a:schemeClr>
              </a:solidFill>
              <a:effectLst>
                <a:outerShdw blurRad="38100" dist="25400" dir="5400000" algn="ctr" rotWithShape="0">
                  <a:srgbClr val="6E747A">
                    <a:alpha val="43000"/>
                  </a:srgbClr>
                </a:outerShdw>
              </a:effectLst>
            </a:endParaRPr>
          </a:p>
        </p:txBody>
      </p:sp>
      <p:pic>
        <p:nvPicPr>
          <p:cNvPr id="13" name="Picture 12" descr="A white and blue card with black text&#10;&#10;AI-generated content may be incorrect.">
            <a:extLst>
              <a:ext uri="{FF2B5EF4-FFF2-40B4-BE49-F238E27FC236}">
                <a16:creationId xmlns:a16="http://schemas.microsoft.com/office/drawing/2014/main" id="{8B55671B-3165-8343-034F-38A5BC159F40}"/>
              </a:ext>
            </a:extLst>
          </p:cNvPr>
          <p:cNvPicPr>
            <a:picLocks noChangeAspect="1"/>
          </p:cNvPicPr>
          <p:nvPr/>
        </p:nvPicPr>
        <p:blipFill>
          <a:blip r:embed="rId3"/>
          <a:stretch>
            <a:fillRect/>
          </a:stretch>
        </p:blipFill>
        <p:spPr>
          <a:xfrm>
            <a:off x="710667" y="1218754"/>
            <a:ext cx="10770658" cy="3358592"/>
          </a:xfrm>
          <a:prstGeom prst="rect">
            <a:avLst/>
          </a:prstGeom>
        </p:spPr>
      </p:pic>
    </p:spTree>
    <p:extLst>
      <p:ext uri="{BB962C8B-B14F-4D97-AF65-F5344CB8AC3E}">
        <p14:creationId xmlns:p14="http://schemas.microsoft.com/office/powerpoint/2010/main" val="3256638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198A63-13FD-A5BF-14D5-1E58C448C0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82" y="-29015"/>
            <a:ext cx="12295163" cy="6916029"/>
          </a:xfrm>
          <a:prstGeom prst="rect">
            <a:avLst/>
          </a:prstGeom>
        </p:spPr>
      </p:pic>
      <p:sp>
        <p:nvSpPr>
          <p:cNvPr id="6" name="TextBox 5">
            <a:extLst>
              <a:ext uri="{FF2B5EF4-FFF2-40B4-BE49-F238E27FC236}">
                <a16:creationId xmlns:a16="http://schemas.microsoft.com/office/drawing/2014/main" id="{0BCB93F5-834C-EA6A-2F12-F3BB290701B7}"/>
              </a:ext>
            </a:extLst>
          </p:cNvPr>
          <p:cNvSpPr txBox="1"/>
          <p:nvPr/>
        </p:nvSpPr>
        <p:spPr>
          <a:xfrm>
            <a:off x="872196" y="3133904"/>
            <a:ext cx="6569613" cy="3724096"/>
          </a:xfrm>
          <a:prstGeom prst="rect">
            <a:avLst/>
          </a:prstGeom>
          <a:noFill/>
        </p:spPr>
        <p:txBody>
          <a:bodyPr wrap="square" rtlCol="0">
            <a:spAutoFit/>
          </a:bodyPr>
          <a:lstStyle/>
          <a:p>
            <a:pPr lvl="1"/>
            <a:r>
              <a:rPr lang="fr-CM" sz="3600" b="1" dirty="0"/>
              <a:t>I. Contexte et Justification</a:t>
            </a:r>
          </a:p>
          <a:p>
            <a:pPr lvl="1"/>
            <a:r>
              <a:rPr lang="fr-CM" sz="3600" b="1" dirty="0"/>
              <a:t>II. Objectif du Projet</a:t>
            </a:r>
          </a:p>
          <a:p>
            <a:pPr lvl="1"/>
            <a:r>
              <a:rPr lang="fr-CM" sz="3600" b="1" dirty="0"/>
              <a:t>III. Expressions des Besoins</a:t>
            </a:r>
          </a:p>
          <a:p>
            <a:pPr lvl="1"/>
            <a:r>
              <a:rPr lang="fr-CM" sz="3600" b="1" dirty="0"/>
              <a:t>IV. Évaluation des Ressources</a:t>
            </a:r>
          </a:p>
          <a:p>
            <a:pPr lvl="1"/>
            <a:r>
              <a:rPr lang="fr-CM" sz="3600" b="1" dirty="0"/>
              <a:t>V. Planification du Projet</a:t>
            </a:r>
          </a:p>
          <a:p>
            <a:pPr lvl="1"/>
            <a:r>
              <a:rPr lang="fr-CM" sz="3600" b="1" dirty="0"/>
              <a:t>VI. Livrables</a:t>
            </a:r>
          </a:p>
          <a:p>
            <a:endParaRPr lang="fr-CM" b="1" dirty="0"/>
          </a:p>
        </p:txBody>
      </p:sp>
      <p:sp>
        <p:nvSpPr>
          <p:cNvPr id="7" name="Oval 6">
            <a:extLst>
              <a:ext uri="{FF2B5EF4-FFF2-40B4-BE49-F238E27FC236}">
                <a16:creationId xmlns:a16="http://schemas.microsoft.com/office/drawing/2014/main" id="{B580BED6-E02F-A6CF-FCFC-B89416303923}"/>
              </a:ext>
            </a:extLst>
          </p:cNvPr>
          <p:cNvSpPr/>
          <p:nvPr/>
        </p:nvSpPr>
        <p:spPr>
          <a:xfrm>
            <a:off x="10855571" y="6073726"/>
            <a:ext cx="984738" cy="661182"/>
          </a:xfrm>
          <a:prstGeom prst="ellipse">
            <a:avLst/>
          </a:prstGeom>
          <a:solidFill>
            <a:srgbClr val="051E33"/>
          </a:solidFill>
          <a:ln>
            <a:solidFill>
              <a:srgbClr val="051E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M"/>
          </a:p>
        </p:txBody>
      </p:sp>
    </p:spTree>
    <p:extLst>
      <p:ext uri="{BB962C8B-B14F-4D97-AF65-F5344CB8AC3E}">
        <p14:creationId xmlns:p14="http://schemas.microsoft.com/office/powerpoint/2010/main" val="2041506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network with a blue background&#10;&#10;AI-generated content may be incorrect.">
            <a:extLst>
              <a:ext uri="{FF2B5EF4-FFF2-40B4-BE49-F238E27FC236}">
                <a16:creationId xmlns:a16="http://schemas.microsoft.com/office/drawing/2014/main" id="{96230402-1F21-54D6-E373-DC8C5526C74A}"/>
              </a:ext>
            </a:extLst>
          </p:cNvPr>
          <p:cNvPicPr>
            <a:picLocks noChangeAspect="1"/>
          </p:cNvPicPr>
          <p:nvPr/>
        </p:nvPicPr>
        <p:blipFill>
          <a:blip r:embed="rId2"/>
          <a:stretch>
            <a:fillRect/>
          </a:stretch>
        </p:blipFill>
        <p:spPr>
          <a:xfrm>
            <a:off x="0" y="-295422"/>
            <a:ext cx="12192000" cy="7221960"/>
          </a:xfrm>
          <a:prstGeom prst="rect">
            <a:avLst/>
          </a:prstGeom>
        </p:spPr>
      </p:pic>
      <p:sp>
        <p:nvSpPr>
          <p:cNvPr id="4" name="TextBox 3">
            <a:extLst>
              <a:ext uri="{FF2B5EF4-FFF2-40B4-BE49-F238E27FC236}">
                <a16:creationId xmlns:a16="http://schemas.microsoft.com/office/drawing/2014/main" id="{A5F04710-ABFB-6F6A-E9D9-E4C2C6D91026}"/>
              </a:ext>
            </a:extLst>
          </p:cNvPr>
          <p:cNvSpPr txBox="1"/>
          <p:nvPr/>
        </p:nvSpPr>
        <p:spPr>
          <a:xfrm>
            <a:off x="0" y="1294227"/>
            <a:ext cx="4389120" cy="5632311"/>
          </a:xfrm>
          <a:prstGeom prst="rect">
            <a:avLst/>
          </a:prstGeom>
          <a:noFill/>
        </p:spPr>
        <p:txBody>
          <a:bodyPr wrap="square" rtlCol="0">
            <a:spAutoFit/>
          </a:bodyPr>
          <a:lstStyle/>
          <a:p>
            <a:pPr marL="342900" indent="-342900">
              <a:buAutoNum type="arabicPeriod"/>
            </a:pPr>
            <a:r>
              <a:rPr lang="fr-CM" sz="2000" b="1" dirty="0"/>
              <a:t>Environnement moderne</a:t>
            </a:r>
            <a:endParaRPr lang="fr-CM" sz="2000" dirty="0"/>
          </a:p>
          <a:p>
            <a:r>
              <a:rPr lang="fr-CM" sz="2000" dirty="0"/>
              <a:t>Volumes importants de logs générés par les systèmes (applications, anomalies, sécurité).</a:t>
            </a:r>
            <a:endParaRPr lang="fr-CM" sz="2000" b="1" dirty="0"/>
          </a:p>
          <a:p>
            <a:r>
              <a:rPr lang="fr-CM" sz="2000" b="1" dirty="0"/>
              <a:t>2. Croissance des architectures distribuée</a:t>
            </a:r>
            <a:r>
              <a:rPr lang="fr-CM" sz="2000" dirty="0"/>
              <a:t> </a:t>
            </a:r>
            <a:r>
              <a:rPr lang="fr-CM" sz="2000" dirty="0" err="1"/>
              <a:t>Microservices</a:t>
            </a:r>
            <a:r>
              <a:rPr lang="fr-CM" sz="2000" dirty="0"/>
              <a:t>, cloud, clusters – dispersion des logs.</a:t>
            </a:r>
          </a:p>
          <a:p>
            <a:r>
              <a:rPr lang="fr-CM" sz="2000" b="1" dirty="0"/>
              <a:t>3.Enjeu majeur</a:t>
            </a:r>
          </a:p>
          <a:p>
            <a:r>
              <a:rPr lang="fr-CM" sz="2000" dirty="0"/>
              <a:t>Collecte centralisée des logs pour exploitation.</a:t>
            </a:r>
          </a:p>
          <a:p>
            <a:r>
              <a:rPr lang="fr-CM" sz="2000" b="1" dirty="0"/>
              <a:t>4.OpenBSD</a:t>
            </a:r>
          </a:p>
          <a:p>
            <a:r>
              <a:rPr lang="fr-CM" sz="2000" dirty="0"/>
              <a:t>Stabilité et sécurité pour un système fiable.</a:t>
            </a:r>
          </a:p>
          <a:p>
            <a:r>
              <a:rPr lang="fr-CM" sz="2000" b="1" dirty="0"/>
              <a:t>5.Objectif du DLC</a:t>
            </a:r>
            <a:r>
              <a:rPr lang="fr-CM" sz="2000" dirty="0"/>
              <a:t> </a:t>
            </a:r>
          </a:p>
          <a:p>
            <a:r>
              <a:rPr lang="fr-CM" sz="2000" dirty="0"/>
              <a:t>Centraliser les logs, assurer leur disponibilité (retransmission), améliorer l'analyse des incidents, faciliter la détection d'anomalies.</a:t>
            </a:r>
          </a:p>
        </p:txBody>
      </p:sp>
      <p:pic>
        <p:nvPicPr>
          <p:cNvPr id="6" name="Picture 5" descr="A white and blue background">
            <a:extLst>
              <a:ext uri="{FF2B5EF4-FFF2-40B4-BE49-F238E27FC236}">
                <a16:creationId xmlns:a16="http://schemas.microsoft.com/office/drawing/2014/main" id="{EB7029E1-1F9A-C140-F709-C51FB4E268A0}"/>
              </a:ext>
            </a:extLst>
          </p:cNvPr>
          <p:cNvPicPr>
            <a:picLocks noChangeAspect="1"/>
          </p:cNvPicPr>
          <p:nvPr/>
        </p:nvPicPr>
        <p:blipFill>
          <a:blip r:embed="rId3"/>
          <a:stretch>
            <a:fillRect/>
          </a:stretch>
        </p:blipFill>
        <p:spPr>
          <a:xfrm>
            <a:off x="6438916" y="1114668"/>
            <a:ext cx="4228678" cy="1763287"/>
          </a:xfrm>
          <a:prstGeom prst="rect">
            <a:avLst/>
          </a:prstGeom>
        </p:spPr>
      </p:pic>
      <p:sp>
        <p:nvSpPr>
          <p:cNvPr id="8" name="TextBox 7">
            <a:extLst>
              <a:ext uri="{FF2B5EF4-FFF2-40B4-BE49-F238E27FC236}">
                <a16:creationId xmlns:a16="http://schemas.microsoft.com/office/drawing/2014/main" id="{C38CD84C-5B6D-68B3-310F-720CCCAC4D73}"/>
              </a:ext>
            </a:extLst>
          </p:cNvPr>
          <p:cNvSpPr txBox="1"/>
          <p:nvPr/>
        </p:nvSpPr>
        <p:spPr>
          <a:xfrm>
            <a:off x="6438916" y="1308295"/>
            <a:ext cx="4228678" cy="1569660"/>
          </a:xfrm>
          <a:prstGeom prst="rect">
            <a:avLst/>
          </a:prstGeom>
          <a:noFill/>
        </p:spPr>
        <p:txBody>
          <a:bodyPr wrap="square">
            <a:spAutoFit/>
          </a:bodyPr>
          <a:lstStyle/>
          <a:p>
            <a:r>
              <a:rPr lang="fr-CM" sz="2400" b="1" dirty="0"/>
              <a:t>Bénéfices:</a:t>
            </a:r>
            <a:r>
              <a:rPr lang="fr-CM" sz="2400" dirty="0"/>
              <a:t> </a:t>
            </a:r>
          </a:p>
          <a:p>
            <a:r>
              <a:rPr lang="fr-CM" sz="2400" dirty="0"/>
              <a:t>Regrouper, indexer, consulter via interface web, renforcer la conformité et la  traçabilité</a:t>
            </a:r>
          </a:p>
        </p:txBody>
      </p:sp>
      <p:pic>
        <p:nvPicPr>
          <p:cNvPr id="9" name="Picture 8" descr="A computer screen shot of a computer">
            <a:extLst>
              <a:ext uri="{FF2B5EF4-FFF2-40B4-BE49-F238E27FC236}">
                <a16:creationId xmlns:a16="http://schemas.microsoft.com/office/drawing/2014/main" id="{7598094E-08D4-DEE3-524A-3DF2B89C1C1C}"/>
              </a:ext>
            </a:extLst>
          </p:cNvPr>
          <p:cNvPicPr>
            <a:picLocks noChangeAspect="1"/>
          </p:cNvPicPr>
          <p:nvPr/>
        </p:nvPicPr>
        <p:blipFill>
          <a:blip r:embed="rId4"/>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A8354C57-1A4C-E4D8-987B-EDB97D1DDFB3}"/>
              </a:ext>
            </a:extLst>
          </p:cNvPr>
          <p:cNvSpPr/>
          <p:nvPr/>
        </p:nvSpPr>
        <p:spPr>
          <a:xfrm>
            <a:off x="2372945" y="-68538"/>
            <a:ext cx="7194597" cy="769441"/>
          </a:xfrm>
          <a:prstGeom prst="rect">
            <a:avLst/>
          </a:prstGeom>
          <a:noFill/>
        </p:spPr>
        <p:txBody>
          <a:bodyPr wrap="none" lIns="91440" tIns="45720" rIns="91440" bIns="45720">
            <a:spAutoFit/>
          </a:bodyPr>
          <a:lstStyle/>
          <a:p>
            <a:pPr algn="ctr"/>
            <a:r>
              <a:rPr lang="en-US" sz="4400" b="0" cap="none" spc="0" dirty="0">
                <a:ln w="0"/>
                <a:solidFill>
                  <a:schemeClr val="bg1"/>
                </a:solidFill>
                <a:effectLst>
                  <a:outerShdw blurRad="38100" dist="19050" dir="2700000" algn="tl" rotWithShape="0">
                    <a:schemeClr val="dk1">
                      <a:alpha val="40000"/>
                    </a:schemeClr>
                  </a:outerShdw>
                </a:effectLst>
              </a:rPr>
              <a:t>I. CONTEXTE ET JUSTIFICATION</a:t>
            </a:r>
          </a:p>
        </p:txBody>
      </p:sp>
      <p:sp>
        <p:nvSpPr>
          <p:cNvPr id="12" name="TextBox 11">
            <a:extLst>
              <a:ext uri="{FF2B5EF4-FFF2-40B4-BE49-F238E27FC236}">
                <a16:creationId xmlns:a16="http://schemas.microsoft.com/office/drawing/2014/main" id="{32B1AE74-515F-8745-0C73-30851B7568D9}"/>
              </a:ext>
            </a:extLst>
          </p:cNvPr>
          <p:cNvSpPr txBox="1"/>
          <p:nvPr/>
        </p:nvSpPr>
        <p:spPr>
          <a:xfrm>
            <a:off x="173501" y="1768244"/>
            <a:ext cx="11844997" cy="3521220"/>
          </a:xfrm>
          <a:prstGeom prst="rect">
            <a:avLst/>
          </a:prstGeom>
          <a:noFill/>
        </p:spPr>
        <p:txBody>
          <a:bodyPr wrap="square">
            <a:spAutoFit/>
          </a:bodyPr>
          <a:lstStyle/>
          <a:p>
            <a:pPr indent="449580" algn="just">
              <a:lnSpc>
                <a:spcPct val="115000"/>
              </a:lnSpc>
              <a:spcAft>
                <a:spcPts val="800"/>
              </a:spcAft>
              <a:buNone/>
            </a:pPr>
            <a:r>
              <a:rPr lang="fr-FR" sz="2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Dans les environnements informatiques modernes (cloud, </a:t>
            </a:r>
            <a:r>
              <a:rPr lang="fr-FR" sz="2800" kern="100" dirty="0" err="1">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microservices</a:t>
            </a:r>
            <a:r>
              <a:rPr lang="fr-FR" sz="2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 clusters haute disponibilité), les systèmes génèrent de grands volumes de journaux (logs). Ces logs sont essentiels pour la sécurité, la supervision, le diagnostic des incidents et la traçabilité. Cependant, avec la complexité et la distribution des architectures actuelles, leur collecte et leur gestion deviennent difficiles, ce qui rend la centralisation des logs indispensable pour une exploitation efficace et fiable des infrastructures.</a:t>
            </a:r>
            <a:endParaRPr lang="fr-CM" sz="2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2823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3E6F3D1D-10FA-D837-A21E-C230069DBBFA}"/>
              </a:ext>
            </a:extLst>
          </p:cNvPr>
          <p:cNvPicPr>
            <a:picLocks noChangeAspect="1"/>
          </p:cNvPicPr>
          <p:nvPr/>
        </p:nvPicPr>
        <p:blipFill>
          <a:blip r:embed="rId2"/>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2E1DBF7F-4B1E-CBAB-95CC-01BE9E7232E5}"/>
              </a:ext>
            </a:extLst>
          </p:cNvPr>
          <p:cNvSpPr txBox="1"/>
          <p:nvPr/>
        </p:nvSpPr>
        <p:spPr>
          <a:xfrm>
            <a:off x="393894" y="2125815"/>
            <a:ext cx="11127545" cy="3444789"/>
          </a:xfrm>
          <a:prstGeom prst="rect">
            <a:avLst/>
          </a:prstGeom>
          <a:noFill/>
        </p:spPr>
        <p:txBody>
          <a:bodyPr wrap="square">
            <a:spAutoFit/>
          </a:bodyPr>
          <a:lstStyle/>
          <a:p>
            <a:pPr algn="just">
              <a:lnSpc>
                <a:spcPct val="115000"/>
              </a:lnSpc>
              <a:spcAft>
                <a:spcPts val="800"/>
              </a:spcAft>
              <a:buNone/>
            </a:pPr>
            <a:r>
              <a:rPr lang="fr-CM" sz="32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Notre objectif principal est de concevoir et mettre en place un système de collecte des logs distribués capable de </a:t>
            </a:r>
            <a:r>
              <a:rPr lang="fr-CM" sz="3200" b="1"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collecter, centraliser, stocker et analyser les logs provenant de plusieurs machines</a:t>
            </a:r>
            <a:r>
              <a:rPr lang="fr-CM" sz="32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 afin de faciliter la supervision, la détection d’incidents, la maintenance et la prise de décision dans un environnement informatique distribué.</a:t>
            </a:r>
          </a:p>
        </p:txBody>
      </p:sp>
      <p:sp>
        <p:nvSpPr>
          <p:cNvPr id="9" name="Rectangle 8">
            <a:extLst>
              <a:ext uri="{FF2B5EF4-FFF2-40B4-BE49-F238E27FC236}">
                <a16:creationId xmlns:a16="http://schemas.microsoft.com/office/drawing/2014/main" id="{DCEE2481-B0B5-966E-506B-D323A7845972}"/>
              </a:ext>
            </a:extLst>
          </p:cNvPr>
          <p:cNvSpPr/>
          <p:nvPr/>
        </p:nvSpPr>
        <p:spPr>
          <a:xfrm>
            <a:off x="3138157" y="385704"/>
            <a:ext cx="5639021" cy="769441"/>
          </a:xfrm>
          <a:prstGeom prst="rect">
            <a:avLst/>
          </a:prstGeom>
          <a:noFill/>
        </p:spPr>
        <p:txBody>
          <a:bodyPr wrap="square" lIns="91440" tIns="45720" rIns="91440" bIns="45720">
            <a:spAutoFit/>
          </a:bodyPr>
          <a:lstStyle/>
          <a:p>
            <a:pPr algn="ctr"/>
            <a:r>
              <a:rPr lang="en-US" sz="4400" b="0" cap="none" spc="0" dirty="0">
                <a:ln w="0"/>
                <a:solidFill>
                  <a:schemeClr val="bg1"/>
                </a:solidFill>
                <a:effectLst>
                  <a:outerShdw blurRad="38100" dist="19050" dir="2700000" algn="tl" rotWithShape="0">
                    <a:schemeClr val="dk1">
                      <a:alpha val="40000"/>
                    </a:schemeClr>
                  </a:outerShdw>
                </a:effectLst>
              </a:rPr>
              <a:t>II. OBJECTIF PRINCIPAL</a:t>
            </a:r>
          </a:p>
        </p:txBody>
      </p:sp>
    </p:spTree>
    <p:extLst>
      <p:ext uri="{BB962C8B-B14F-4D97-AF65-F5344CB8AC3E}">
        <p14:creationId xmlns:p14="http://schemas.microsoft.com/office/powerpoint/2010/main" val="2267843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97BB4-688A-D04F-3B2D-C399AA8956DB}"/>
            </a:ext>
          </a:extLst>
        </p:cNvPr>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0E29A9E6-FC3C-4B97-EE20-9340A956A53E}"/>
              </a:ext>
            </a:extLst>
          </p:cNvPr>
          <p:cNvPicPr>
            <a:picLocks noChangeAspect="1"/>
          </p:cNvPicPr>
          <p:nvPr/>
        </p:nvPicPr>
        <p:blipFill>
          <a:blip r:embed="rId2"/>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C4F51839-4574-4363-A1C3-AC04BCE85696}"/>
              </a:ext>
            </a:extLst>
          </p:cNvPr>
          <p:cNvSpPr txBox="1"/>
          <p:nvPr/>
        </p:nvSpPr>
        <p:spPr>
          <a:xfrm>
            <a:off x="159433" y="560152"/>
            <a:ext cx="11873132" cy="6004529"/>
          </a:xfrm>
          <a:prstGeom prst="rect">
            <a:avLst/>
          </a:prstGeom>
          <a:noFill/>
        </p:spPr>
        <p:txBody>
          <a:bodyPr wrap="square">
            <a:spAutoFit/>
          </a:bodyPr>
          <a:lstStyle/>
          <a:p>
            <a:pPr marL="342900" lvl="0" indent="-342900" algn="just">
              <a:lnSpc>
                <a:spcPct val="115000"/>
              </a:lnSpc>
              <a:buFont typeface="Times New Roman" panose="02020603050405020304" pitchFamily="18" charset="0"/>
              <a:buChar char="-"/>
            </a:pPr>
            <a:r>
              <a:rPr lang="fr-CM" sz="2400" dirty="0">
                <a:solidFill>
                  <a:schemeClr val="bg1"/>
                </a:solidFill>
                <a:effectLst/>
                <a:latin typeface="Times New Roman" panose="02020603050405020304" pitchFamily="18" charset="0"/>
                <a:ea typeface="Times New Roman" panose="02020603050405020304" pitchFamily="18" charset="0"/>
              </a:rPr>
              <a:t>Déployer des </a:t>
            </a:r>
            <a:r>
              <a:rPr lang="fr-CM" sz="2400" b="1" dirty="0">
                <a:solidFill>
                  <a:schemeClr val="bg1"/>
                </a:solidFill>
                <a:effectLst/>
                <a:latin typeface="Times New Roman" panose="02020603050405020304" pitchFamily="18" charset="0"/>
                <a:ea typeface="Calibri" panose="020F0502020204030204" pitchFamily="34" charset="0"/>
              </a:rPr>
              <a:t>agents sur plusieurs nœuds</a:t>
            </a:r>
            <a:r>
              <a:rPr lang="fr-CM" sz="2400" dirty="0">
                <a:solidFill>
                  <a:schemeClr val="bg1"/>
                </a:solidFill>
                <a:effectLst/>
                <a:latin typeface="Times New Roman" panose="02020603050405020304" pitchFamily="18" charset="0"/>
                <a:ea typeface="Times New Roman" panose="02020603050405020304" pitchFamily="18" charset="0"/>
              </a:rPr>
              <a:t> capables d’envoyer automatiquement leurs logs vers le serveur central.	</a:t>
            </a:r>
          </a:p>
          <a:p>
            <a:pPr lvl="0" algn="just">
              <a:lnSpc>
                <a:spcPct val="115000"/>
              </a:lnSpc>
            </a:pPr>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lnSpc>
                <a:spcPct val="115000"/>
              </a:lnSpc>
              <a:buFont typeface="Times New Roman" panose="02020603050405020304" pitchFamily="18" charset="0"/>
              <a:buChar char="-"/>
            </a:pPr>
            <a:r>
              <a:rPr lang="fr-CM" sz="2400" dirty="0">
                <a:solidFill>
                  <a:schemeClr val="bg1"/>
                </a:solidFill>
                <a:effectLst/>
                <a:latin typeface="Times New Roman" panose="02020603050405020304" pitchFamily="18" charset="0"/>
                <a:ea typeface="Times New Roman" panose="02020603050405020304" pitchFamily="18" charset="0"/>
              </a:rPr>
              <a:t>Mettre en place un </a:t>
            </a:r>
            <a:r>
              <a:rPr lang="fr-CM" sz="2400" b="1" dirty="0">
                <a:solidFill>
                  <a:schemeClr val="bg1"/>
                </a:solidFill>
                <a:effectLst/>
                <a:latin typeface="Times New Roman" panose="02020603050405020304" pitchFamily="18" charset="0"/>
                <a:ea typeface="Calibri" panose="020F0502020204030204" pitchFamily="34" charset="0"/>
              </a:rPr>
              <a:t>serveur central (Log </a:t>
            </a:r>
            <a:r>
              <a:rPr lang="fr-CM" sz="2400" b="1" dirty="0" err="1">
                <a:solidFill>
                  <a:schemeClr val="bg1"/>
                </a:solidFill>
                <a:effectLst/>
                <a:latin typeface="Times New Roman" panose="02020603050405020304" pitchFamily="18" charset="0"/>
                <a:ea typeface="Calibri" panose="020F0502020204030204" pitchFamily="34" charset="0"/>
              </a:rPr>
              <a:t>Aggregator</a:t>
            </a:r>
            <a:r>
              <a:rPr lang="fr-CM" sz="2400" b="1" dirty="0">
                <a:solidFill>
                  <a:schemeClr val="bg1"/>
                </a:solidFill>
                <a:effectLst/>
                <a:latin typeface="Times New Roman" panose="02020603050405020304" pitchFamily="18" charset="0"/>
                <a:ea typeface="Calibri" panose="020F0502020204030204" pitchFamily="34" charset="0"/>
              </a:rPr>
              <a:t>)</a:t>
            </a:r>
            <a:r>
              <a:rPr lang="fr-CM" sz="2400" dirty="0">
                <a:solidFill>
                  <a:schemeClr val="bg1"/>
                </a:solidFill>
                <a:effectLst/>
                <a:latin typeface="Times New Roman" panose="02020603050405020304" pitchFamily="18" charset="0"/>
                <a:ea typeface="Times New Roman" panose="02020603050405020304" pitchFamily="18" charset="0"/>
              </a:rPr>
              <a:t> pour recevoir, stocker et indexer les logs.</a:t>
            </a:r>
          </a:p>
          <a:p>
            <a:pPr lvl="0" algn="just">
              <a:lnSpc>
                <a:spcPct val="115000"/>
              </a:lnSpc>
            </a:pPr>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lnSpc>
                <a:spcPct val="115000"/>
              </a:lnSpc>
              <a:buFont typeface="Times New Roman" panose="02020603050405020304" pitchFamily="18" charset="0"/>
              <a:buChar char="-"/>
            </a:pPr>
            <a:r>
              <a:rPr lang="fr-CM" sz="2400" dirty="0">
                <a:solidFill>
                  <a:schemeClr val="bg1"/>
                </a:solidFill>
                <a:effectLst/>
                <a:latin typeface="Times New Roman" panose="02020603050405020304" pitchFamily="18" charset="0"/>
                <a:ea typeface="Times New Roman" panose="02020603050405020304" pitchFamily="18" charset="0"/>
              </a:rPr>
              <a:t>Assurer la </a:t>
            </a:r>
            <a:r>
              <a:rPr lang="fr-CM" sz="2400" b="1" dirty="0">
                <a:solidFill>
                  <a:schemeClr val="bg1"/>
                </a:solidFill>
                <a:effectLst/>
                <a:latin typeface="Times New Roman" panose="02020603050405020304" pitchFamily="18" charset="0"/>
                <a:ea typeface="Calibri" panose="020F0502020204030204" pitchFamily="34" charset="0"/>
              </a:rPr>
              <a:t>tolérance aux pannes</a:t>
            </a:r>
            <a:r>
              <a:rPr lang="fr-CM" sz="2400" dirty="0">
                <a:solidFill>
                  <a:schemeClr val="bg1"/>
                </a:solidFill>
                <a:effectLst/>
                <a:latin typeface="Times New Roman" panose="02020603050405020304" pitchFamily="18" charset="0"/>
                <a:ea typeface="Times New Roman" panose="02020603050405020304" pitchFamily="18" charset="0"/>
              </a:rPr>
              <a:t> en prévoyant des mécanismes de retransmission des logs si le serveur central est temporairement indisponible.						</a:t>
            </a:r>
          </a:p>
          <a:p>
            <a:pPr marL="342900" lvl="0" indent="-342900" algn="just">
              <a:lnSpc>
                <a:spcPct val="115000"/>
              </a:lnSpc>
              <a:buFont typeface="Times New Roman" panose="02020603050405020304" pitchFamily="18" charset="0"/>
              <a:buChar char="-"/>
            </a:pPr>
            <a:r>
              <a:rPr lang="fr-CM" sz="2400" dirty="0">
                <a:solidFill>
                  <a:schemeClr val="bg1"/>
                </a:solidFill>
                <a:effectLst/>
                <a:latin typeface="Times New Roman" panose="02020603050405020304" pitchFamily="18" charset="0"/>
                <a:ea typeface="Times New Roman" panose="02020603050405020304" pitchFamily="18" charset="0"/>
              </a:rPr>
              <a:t>Créer une </a:t>
            </a:r>
            <a:r>
              <a:rPr lang="fr-CM" sz="2400" b="1" dirty="0">
                <a:solidFill>
                  <a:schemeClr val="bg1"/>
                </a:solidFill>
                <a:effectLst/>
                <a:latin typeface="Times New Roman" panose="02020603050405020304" pitchFamily="18" charset="0"/>
                <a:ea typeface="Calibri" panose="020F0502020204030204" pitchFamily="34" charset="0"/>
              </a:rPr>
              <a:t>interface Web</a:t>
            </a:r>
            <a:r>
              <a:rPr lang="fr-CM" sz="2400" dirty="0">
                <a:solidFill>
                  <a:schemeClr val="bg1"/>
                </a:solidFill>
                <a:effectLst/>
                <a:latin typeface="Times New Roman" panose="02020603050405020304" pitchFamily="18" charset="0"/>
                <a:ea typeface="Times New Roman" panose="02020603050405020304" pitchFamily="18" charset="0"/>
              </a:rPr>
              <a:t> permettant de consulter les logs par machine, par niveau de gravité et par période.		</a:t>
            </a:r>
          </a:p>
          <a:p>
            <a:pPr lvl="0" algn="just">
              <a:lnSpc>
                <a:spcPct val="115000"/>
              </a:lnSpc>
            </a:pPr>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lnSpc>
                <a:spcPct val="115000"/>
              </a:lnSpc>
              <a:buFont typeface="Times New Roman" panose="02020603050405020304" pitchFamily="18" charset="0"/>
              <a:buChar char="-"/>
            </a:pPr>
            <a:r>
              <a:rPr lang="fr-CM" sz="2400" b="1" dirty="0">
                <a:solidFill>
                  <a:schemeClr val="bg1"/>
                </a:solidFill>
                <a:effectLst/>
                <a:latin typeface="Times New Roman" panose="02020603050405020304" pitchFamily="18" charset="0"/>
                <a:ea typeface="Times New Roman" panose="02020603050405020304" pitchFamily="18" charset="0"/>
              </a:rPr>
              <a:t>Appliquer et démontrer </a:t>
            </a:r>
            <a:r>
              <a:rPr lang="fr-CM" sz="2400" dirty="0">
                <a:solidFill>
                  <a:schemeClr val="bg1"/>
                </a:solidFill>
                <a:effectLst/>
                <a:latin typeface="Times New Roman" panose="02020603050405020304" pitchFamily="18" charset="0"/>
                <a:ea typeface="Times New Roman" panose="02020603050405020304" pitchFamily="18" charset="0"/>
              </a:rPr>
              <a:t>les </a:t>
            </a:r>
            <a:r>
              <a:rPr lang="fr-CM" sz="2400" b="1" dirty="0">
                <a:solidFill>
                  <a:schemeClr val="bg1"/>
                </a:solidFill>
                <a:effectLst/>
                <a:latin typeface="Times New Roman" panose="02020603050405020304" pitchFamily="18" charset="0"/>
                <a:ea typeface="Calibri" panose="020F0502020204030204" pitchFamily="34" charset="0"/>
              </a:rPr>
              <a:t>principes de systèmes distribués</a:t>
            </a:r>
            <a:r>
              <a:rPr lang="fr-CM" sz="2400" dirty="0">
                <a:solidFill>
                  <a:schemeClr val="bg1"/>
                </a:solidFill>
                <a:effectLst/>
                <a:latin typeface="Times New Roman" panose="02020603050405020304" pitchFamily="18" charset="0"/>
                <a:ea typeface="Times New Roman" panose="02020603050405020304" pitchFamily="18" charset="0"/>
              </a:rPr>
              <a:t>, tels que le modèle producteur–consommateur et les communications inter-nœuds.</a:t>
            </a:r>
          </a:p>
        </p:txBody>
      </p:sp>
      <p:sp>
        <p:nvSpPr>
          <p:cNvPr id="9" name="Rectangle 8">
            <a:extLst>
              <a:ext uri="{FF2B5EF4-FFF2-40B4-BE49-F238E27FC236}">
                <a16:creationId xmlns:a16="http://schemas.microsoft.com/office/drawing/2014/main" id="{B2B248C0-0A7D-E4A8-F886-3CDFF36C278B}"/>
              </a:ext>
            </a:extLst>
          </p:cNvPr>
          <p:cNvSpPr/>
          <p:nvPr/>
        </p:nvSpPr>
        <p:spPr>
          <a:xfrm>
            <a:off x="2467056" y="-53688"/>
            <a:ext cx="6723315" cy="769441"/>
          </a:xfrm>
          <a:prstGeom prst="rect">
            <a:avLst/>
          </a:prstGeom>
          <a:noFill/>
        </p:spPr>
        <p:txBody>
          <a:bodyPr wrap="none" lIns="91440" tIns="45720" rIns="91440" bIns="45720">
            <a:spAutoFit/>
          </a:bodyPr>
          <a:lstStyle/>
          <a:p>
            <a:pPr algn="ctr"/>
            <a:r>
              <a:rPr lang="fr-CM" sz="4400" b="0" kern="100"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ea typeface="Times New Roman" panose="02020603050405020304" pitchFamily="18" charset="0"/>
                <a:cs typeface="Times New Roman" panose="02020603050405020304" pitchFamily="18" charset="0"/>
              </a:rPr>
              <a:t>OBJECTIFS SPÉCIFIQUES</a:t>
            </a:r>
            <a:endParaRPr lang="fr-CM" sz="44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79064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84324669-6983-5083-E150-179FBA9774A2}"/>
              </a:ext>
            </a:extLst>
          </p:cNvPr>
          <p:cNvPicPr>
            <a:picLocks noChangeAspect="1"/>
          </p:cNvPicPr>
          <p:nvPr/>
        </p:nvPicPr>
        <p:blipFill>
          <a:blip r:embed="rId3"/>
          <a:stretch>
            <a:fillRect/>
          </a:stretch>
        </p:blipFill>
        <p:spPr>
          <a:xfrm>
            <a:off x="0" y="0"/>
            <a:ext cx="12192000" cy="6858000"/>
          </a:xfrm>
          <a:prstGeom prst="rect">
            <a:avLst/>
          </a:prstGeom>
        </p:spPr>
      </p:pic>
      <p:sp>
        <p:nvSpPr>
          <p:cNvPr id="12" name="TextBox 11">
            <a:extLst>
              <a:ext uri="{FF2B5EF4-FFF2-40B4-BE49-F238E27FC236}">
                <a16:creationId xmlns:a16="http://schemas.microsoft.com/office/drawing/2014/main" id="{4C4CC912-DC90-B8D6-9E39-C30EEB039067}"/>
              </a:ext>
            </a:extLst>
          </p:cNvPr>
          <p:cNvSpPr txBox="1"/>
          <p:nvPr/>
        </p:nvSpPr>
        <p:spPr>
          <a:xfrm>
            <a:off x="299694" y="863299"/>
            <a:ext cx="11592609" cy="5909310"/>
          </a:xfrm>
          <a:prstGeom prst="rect">
            <a:avLst/>
          </a:prstGeom>
          <a:noFill/>
        </p:spPr>
        <p:txBody>
          <a:bodyPr wrap="square">
            <a:spAutoFit/>
          </a:bodyPr>
          <a:lstStyle/>
          <a:p>
            <a:pPr algn="just">
              <a:buNone/>
            </a:pPr>
            <a:r>
              <a:rPr lang="fr-CM" sz="2400" dirty="0">
                <a:solidFill>
                  <a:schemeClr val="bg1"/>
                </a:solidFill>
                <a:effectLst/>
                <a:latin typeface="Times New Roman" panose="02020603050405020304" pitchFamily="18" charset="0"/>
                <a:ea typeface="Times New Roman" panose="02020603050405020304" pitchFamily="18" charset="0"/>
              </a:rPr>
              <a:t>Les besoins fonctionnels définissent </a:t>
            </a:r>
            <a:r>
              <a:rPr lang="fr-CM" sz="2400" b="1" dirty="0">
                <a:solidFill>
                  <a:schemeClr val="bg1"/>
                </a:solidFill>
                <a:effectLst/>
                <a:latin typeface="Times New Roman" panose="02020603050405020304" pitchFamily="18" charset="0"/>
                <a:ea typeface="Calibri" panose="020F0502020204030204" pitchFamily="34" charset="0"/>
              </a:rPr>
              <a:t>ce que le système doit faire</a:t>
            </a:r>
            <a:r>
              <a:rPr lang="fr-CM" sz="2400" dirty="0">
                <a:solidFill>
                  <a:schemeClr val="bg1"/>
                </a:solidFill>
                <a:effectLst/>
                <a:latin typeface="Times New Roman" panose="02020603050405020304" pitchFamily="18" charset="0"/>
                <a:ea typeface="Times New Roman" panose="02020603050405020304" pitchFamily="18" charset="0"/>
              </a:rPr>
              <a:t> pour remplir ses objectifs :</a:t>
            </a:r>
            <a:endParaRPr lang="fr-CM" sz="2400" dirty="0">
              <a:solidFill>
                <a:schemeClr val="bg1"/>
              </a:solidFill>
              <a:latin typeface="Times New Roman" panose="02020603050405020304" pitchFamily="18" charset="0"/>
              <a:ea typeface="Times New Roman" panose="02020603050405020304" pitchFamily="18" charset="0"/>
            </a:endParaRPr>
          </a:p>
          <a:p>
            <a:pPr algn="just">
              <a:buNone/>
            </a:pPr>
            <a:endParaRPr lang="fr-CM" sz="2400" dirty="0">
              <a:solidFill>
                <a:schemeClr val="bg1"/>
              </a:solidFill>
              <a:effectLst/>
              <a:latin typeface="Times New Roman" panose="02020603050405020304" pitchFamily="18" charset="0"/>
              <a:ea typeface="Times New Roman" panose="02020603050405020304" pitchFamily="18" charset="0"/>
            </a:endParaRPr>
          </a:p>
          <a:p>
            <a:pPr marL="342900" lvl="0" indent="-342900" algn="just">
              <a:buFont typeface="Times New Roman" panose="02020603050405020304" pitchFamily="18" charset="0"/>
              <a:buChar char="-"/>
            </a:pPr>
            <a:r>
              <a:rPr lang="fr-CM" sz="2400" b="1" dirty="0">
                <a:solidFill>
                  <a:schemeClr val="bg1"/>
                </a:solidFill>
                <a:effectLst/>
                <a:latin typeface="Times New Roman" panose="02020603050405020304" pitchFamily="18" charset="0"/>
                <a:ea typeface="Calibri" panose="020F0502020204030204" pitchFamily="34" charset="0"/>
              </a:rPr>
              <a:t>Collecte des logs</a:t>
            </a:r>
            <a:r>
              <a:rPr lang="fr-CM" sz="2400" b="1" dirty="0">
                <a:solidFill>
                  <a:schemeClr val="bg1"/>
                </a:solidFill>
                <a:effectLst/>
                <a:latin typeface="Times New Roman" panose="02020603050405020304" pitchFamily="18" charset="0"/>
                <a:ea typeface="Times New Roman" panose="02020603050405020304" pitchFamily="18" charset="0"/>
              </a:rPr>
              <a:t> : </a:t>
            </a:r>
            <a:r>
              <a:rPr lang="fr-CM" sz="2200" dirty="0">
                <a:solidFill>
                  <a:schemeClr val="bg1"/>
                </a:solidFill>
                <a:effectLst/>
                <a:latin typeface="Times New Roman" panose="02020603050405020304" pitchFamily="18" charset="0"/>
                <a:ea typeface="Times New Roman" panose="02020603050405020304" pitchFamily="18" charset="0"/>
              </a:rPr>
              <a:t>Les agents doivent pouvoir récupérer automatiquement les journaux systèmes et applicatifs sur chaque nœud.</a:t>
            </a:r>
            <a:r>
              <a:rPr lang="fr-CM" sz="2400" dirty="0">
                <a:solidFill>
                  <a:schemeClr val="bg1"/>
                </a:solidFill>
                <a:effectLst/>
                <a:latin typeface="Times New Roman" panose="02020603050405020304" pitchFamily="18" charset="0"/>
                <a:ea typeface="Times New Roman" panose="02020603050405020304" pitchFamily="18" charset="0"/>
              </a:rPr>
              <a:t>	</a:t>
            </a:r>
          </a:p>
          <a:p>
            <a:pPr lvl="0" algn="just"/>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buFont typeface="Times New Roman" panose="02020603050405020304" pitchFamily="18" charset="0"/>
              <a:buChar char="-"/>
            </a:pPr>
            <a:r>
              <a:rPr lang="fr-CM" sz="2400" b="1" dirty="0">
                <a:solidFill>
                  <a:schemeClr val="bg1"/>
                </a:solidFill>
                <a:effectLst/>
                <a:latin typeface="Times New Roman" panose="02020603050405020304" pitchFamily="18" charset="0"/>
                <a:ea typeface="Calibri" panose="020F0502020204030204" pitchFamily="34" charset="0"/>
              </a:rPr>
              <a:t>Transmission des logs</a:t>
            </a:r>
            <a:r>
              <a:rPr lang="fr-CM" sz="2400" dirty="0">
                <a:solidFill>
                  <a:schemeClr val="bg1"/>
                </a:solidFill>
                <a:effectLst/>
                <a:latin typeface="Times New Roman" panose="02020603050405020304" pitchFamily="18" charset="0"/>
                <a:ea typeface="Times New Roman" panose="02020603050405020304" pitchFamily="18" charset="0"/>
              </a:rPr>
              <a:t> : </a:t>
            </a:r>
            <a:r>
              <a:rPr lang="fr-CM" sz="2200" dirty="0">
                <a:solidFill>
                  <a:schemeClr val="bg1"/>
                </a:solidFill>
                <a:effectLst/>
                <a:latin typeface="Times New Roman" panose="02020603050405020304" pitchFamily="18" charset="0"/>
                <a:ea typeface="Times New Roman" panose="02020603050405020304" pitchFamily="18" charset="0"/>
              </a:rPr>
              <a:t>Les logs doivent être envoyés vers le serveur central de manière fiable, même en cas de réseau instable.</a:t>
            </a:r>
            <a:r>
              <a:rPr lang="fr-CM" sz="2400" dirty="0">
                <a:solidFill>
                  <a:schemeClr val="bg1"/>
                </a:solidFill>
                <a:effectLst/>
                <a:latin typeface="Times New Roman" panose="02020603050405020304" pitchFamily="18" charset="0"/>
                <a:ea typeface="Times New Roman" panose="02020603050405020304" pitchFamily="18" charset="0"/>
              </a:rPr>
              <a:t>	</a:t>
            </a:r>
          </a:p>
          <a:p>
            <a:pPr lvl="0" algn="just"/>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buFont typeface="Times New Roman" panose="02020603050405020304" pitchFamily="18" charset="0"/>
              <a:buChar char="-"/>
            </a:pPr>
            <a:r>
              <a:rPr lang="fr-CM" sz="2400" b="1" dirty="0">
                <a:solidFill>
                  <a:schemeClr val="bg1"/>
                </a:solidFill>
                <a:effectLst/>
                <a:latin typeface="Times New Roman" panose="02020603050405020304" pitchFamily="18" charset="0"/>
                <a:ea typeface="Calibri" panose="020F0502020204030204" pitchFamily="34" charset="0"/>
              </a:rPr>
              <a:t>Stockage et indexation</a:t>
            </a:r>
            <a:r>
              <a:rPr lang="fr-CM" sz="2400" dirty="0">
                <a:solidFill>
                  <a:schemeClr val="bg1"/>
                </a:solidFill>
                <a:effectLst/>
                <a:latin typeface="Times New Roman" panose="02020603050405020304" pitchFamily="18" charset="0"/>
                <a:ea typeface="Times New Roman" panose="02020603050405020304" pitchFamily="18" charset="0"/>
              </a:rPr>
              <a:t> : </a:t>
            </a:r>
            <a:r>
              <a:rPr lang="fr-CM" sz="2200" dirty="0">
                <a:solidFill>
                  <a:schemeClr val="bg1"/>
                </a:solidFill>
                <a:effectLst/>
                <a:latin typeface="Times New Roman" panose="02020603050405020304" pitchFamily="18" charset="0"/>
                <a:ea typeface="Times New Roman" panose="02020603050405020304" pitchFamily="18" charset="0"/>
              </a:rPr>
              <a:t>Le serveur central doit stocker tous les logs reçus et permettre leur recherche rapide grâce à un système d’indexation.</a:t>
            </a:r>
          </a:p>
          <a:p>
            <a:pPr lvl="0" algn="just"/>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buFont typeface="Times New Roman" panose="02020603050405020304" pitchFamily="18" charset="0"/>
              <a:buChar char="-"/>
            </a:pPr>
            <a:r>
              <a:rPr lang="fr-CM" sz="2400" b="1" dirty="0">
                <a:solidFill>
                  <a:schemeClr val="bg1"/>
                </a:solidFill>
                <a:effectLst/>
                <a:latin typeface="Times New Roman" panose="02020603050405020304" pitchFamily="18" charset="0"/>
                <a:ea typeface="Calibri" panose="020F0502020204030204" pitchFamily="34" charset="0"/>
              </a:rPr>
              <a:t>Interface Web de consultation</a:t>
            </a:r>
            <a:r>
              <a:rPr lang="fr-CM" sz="2400" dirty="0">
                <a:solidFill>
                  <a:schemeClr val="bg1"/>
                </a:solidFill>
                <a:effectLst/>
                <a:latin typeface="Times New Roman" panose="02020603050405020304" pitchFamily="18" charset="0"/>
                <a:ea typeface="Times New Roman" panose="02020603050405020304" pitchFamily="18" charset="0"/>
              </a:rPr>
              <a:t> : </a:t>
            </a:r>
            <a:r>
              <a:rPr lang="fr-CM" sz="2200" dirty="0">
                <a:solidFill>
                  <a:schemeClr val="bg1"/>
                </a:solidFill>
                <a:effectLst/>
                <a:latin typeface="Times New Roman" panose="02020603050405020304" pitchFamily="18" charset="0"/>
                <a:ea typeface="Times New Roman" panose="02020603050405020304" pitchFamily="18" charset="0"/>
              </a:rPr>
              <a:t>Fournir une interface Web permettant de filtrer les logs par machine, par niveau de gravité (INFO, WARN, ERROR) et par période.	</a:t>
            </a:r>
          </a:p>
          <a:p>
            <a:pPr lvl="0" algn="just"/>
            <a:r>
              <a:rPr lang="fr-CM" sz="2400" dirty="0">
                <a:solidFill>
                  <a:schemeClr val="bg1"/>
                </a:solidFill>
                <a:effectLst/>
                <a:latin typeface="Times New Roman" panose="02020603050405020304" pitchFamily="18" charset="0"/>
                <a:ea typeface="Times New Roman" panose="02020603050405020304" pitchFamily="18" charset="0"/>
              </a:rPr>
              <a:t>		</a:t>
            </a:r>
          </a:p>
          <a:p>
            <a:pPr marL="342900" lvl="0" indent="-342900" algn="just">
              <a:buFont typeface="Times New Roman" panose="02020603050405020304" pitchFamily="18" charset="0"/>
              <a:buChar char="-"/>
            </a:pPr>
            <a:r>
              <a:rPr lang="fr-CM" sz="2400" b="1" dirty="0">
                <a:solidFill>
                  <a:schemeClr val="bg1"/>
                </a:solidFill>
                <a:effectLst/>
                <a:latin typeface="Times New Roman" panose="02020603050405020304" pitchFamily="18" charset="0"/>
                <a:ea typeface="Calibri" panose="020F0502020204030204" pitchFamily="34" charset="0"/>
              </a:rPr>
              <a:t>Gestion des pannes</a:t>
            </a:r>
            <a:r>
              <a:rPr lang="fr-CM" sz="2400" dirty="0">
                <a:solidFill>
                  <a:schemeClr val="bg1"/>
                </a:solidFill>
                <a:effectLst/>
                <a:latin typeface="Times New Roman" panose="02020603050405020304" pitchFamily="18" charset="0"/>
                <a:ea typeface="Times New Roman" panose="02020603050405020304" pitchFamily="18" charset="0"/>
              </a:rPr>
              <a:t> : </a:t>
            </a:r>
            <a:r>
              <a:rPr lang="fr-CM" sz="2200" dirty="0">
                <a:solidFill>
                  <a:schemeClr val="bg1"/>
                </a:solidFill>
                <a:effectLst/>
                <a:latin typeface="Times New Roman" panose="02020603050405020304" pitchFamily="18" charset="0"/>
                <a:ea typeface="Times New Roman" panose="02020603050405020304" pitchFamily="18" charset="0"/>
              </a:rPr>
              <a:t>Les agents doivent conserver les logs localement en cas d’indisponibilité du serveur et les retransmettre lorsque le serveur est de nouveau accessible.</a:t>
            </a:r>
          </a:p>
        </p:txBody>
      </p:sp>
      <p:sp>
        <p:nvSpPr>
          <p:cNvPr id="13" name="Rectangle 12">
            <a:extLst>
              <a:ext uri="{FF2B5EF4-FFF2-40B4-BE49-F238E27FC236}">
                <a16:creationId xmlns:a16="http://schemas.microsoft.com/office/drawing/2014/main" id="{9E274274-435B-C455-3AAC-6362C60C2B65}"/>
              </a:ext>
            </a:extLst>
          </p:cNvPr>
          <p:cNvSpPr/>
          <p:nvPr/>
        </p:nvSpPr>
        <p:spPr>
          <a:xfrm>
            <a:off x="1899138" y="46929"/>
            <a:ext cx="7329268" cy="769441"/>
          </a:xfrm>
          <a:prstGeom prst="rect">
            <a:avLst/>
          </a:prstGeom>
          <a:noFill/>
        </p:spPr>
        <p:txBody>
          <a:bodyPr wrap="square" lIns="91440" tIns="45720" rIns="91440" bIns="45720">
            <a:spAutoFit/>
          </a:bodyPr>
          <a:lstStyle/>
          <a:p>
            <a:pPr algn="ctr"/>
            <a:r>
              <a:rPr lang="en-US" sz="4400" b="0" cap="none" spc="0" dirty="0">
                <a:ln w="0"/>
                <a:solidFill>
                  <a:schemeClr val="bg1"/>
                </a:solidFill>
                <a:effectLst>
                  <a:outerShdw blurRad="38100" dist="19050" dir="2700000" algn="tl" rotWithShape="0">
                    <a:schemeClr val="dk1">
                      <a:alpha val="40000"/>
                    </a:schemeClr>
                  </a:outerShdw>
                </a:effectLst>
              </a:rPr>
              <a:t>III. </a:t>
            </a:r>
            <a:r>
              <a:rPr lang="fr-CM" sz="4400" b="1" dirty="0">
                <a:solidFill>
                  <a:schemeClr val="bg1"/>
                </a:solidFill>
              </a:rPr>
              <a:t>EXPRESSIONS DES BESOINS</a:t>
            </a:r>
            <a:endParaRPr lang="en-US" sz="44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75188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2EFCF276-5209-E7C7-F625-7F600C0EB234}"/>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5A1E2141-15D7-4AF1-3AC1-2FC970850506}"/>
              </a:ext>
            </a:extLst>
          </p:cNvPr>
          <p:cNvSpPr txBox="1"/>
          <p:nvPr/>
        </p:nvSpPr>
        <p:spPr>
          <a:xfrm>
            <a:off x="1044524" y="4045411"/>
            <a:ext cx="10505051" cy="2800767"/>
          </a:xfrm>
          <a:prstGeom prst="rect">
            <a:avLst/>
          </a:prstGeom>
          <a:noFill/>
        </p:spPr>
        <p:txBody>
          <a:bodyPr wrap="square">
            <a:spAutoFit/>
          </a:bodyPr>
          <a:lstStyle/>
          <a:p>
            <a:pPr algn="just">
              <a:buNone/>
            </a:pPr>
            <a:r>
              <a:rPr lang="fr-CM" sz="2200" b="1" dirty="0">
                <a:solidFill>
                  <a:schemeClr val="bg1"/>
                </a:solidFill>
                <a:effectLst/>
                <a:latin typeface="Times New Roman" panose="02020603050405020304" pitchFamily="18" charset="0"/>
                <a:ea typeface="Times New Roman" panose="02020603050405020304" pitchFamily="18" charset="0"/>
              </a:rPr>
              <a:t>Les besoins fonctionnels de notre interface Web :</a:t>
            </a:r>
          </a:p>
          <a:p>
            <a:pPr marL="342900" lvl="0" indent="-342900" algn="just">
              <a:buFont typeface="Times New Roman" panose="02020603050405020304" pitchFamily="18" charset="0"/>
              <a:buChar char="-"/>
            </a:pPr>
            <a:r>
              <a:rPr lang="fr-CM" sz="2200" dirty="0">
                <a:solidFill>
                  <a:schemeClr val="bg1"/>
                </a:solidFill>
                <a:effectLst/>
                <a:latin typeface="Times New Roman" panose="02020603050405020304" pitchFamily="18" charset="0"/>
                <a:ea typeface="Times New Roman" panose="02020603050405020304" pitchFamily="18" charset="0"/>
              </a:rPr>
              <a:t>Authentification des utilisateurs : L’interface Web permet un accès sécurisé réservé aux utilisateurs autorisés.										</a:t>
            </a:r>
          </a:p>
          <a:p>
            <a:pPr marL="342900" lvl="0" indent="-342900" algn="just">
              <a:buFont typeface="Times New Roman" panose="02020603050405020304" pitchFamily="18" charset="0"/>
              <a:buChar char="-"/>
            </a:pPr>
            <a:r>
              <a:rPr lang="fr-CM" sz="2200" dirty="0">
                <a:solidFill>
                  <a:schemeClr val="bg1"/>
                </a:solidFill>
                <a:effectLst/>
                <a:latin typeface="Times New Roman" panose="02020603050405020304" pitchFamily="18" charset="0"/>
                <a:ea typeface="Times New Roman" panose="02020603050405020304" pitchFamily="18" charset="0"/>
              </a:rPr>
              <a:t>Consultation des logs par machines : possibilité d’afficher les logs générés par machine.	</a:t>
            </a:r>
          </a:p>
          <a:p>
            <a:pPr marL="342900" lvl="0" indent="-342900" algn="just">
              <a:buFont typeface="Times New Roman" panose="02020603050405020304" pitchFamily="18" charset="0"/>
              <a:buChar char="-"/>
            </a:pPr>
            <a:r>
              <a:rPr lang="fr-CM" sz="2200" dirty="0">
                <a:solidFill>
                  <a:schemeClr val="bg1"/>
                </a:solidFill>
                <a:effectLst/>
                <a:latin typeface="Times New Roman" panose="02020603050405020304" pitchFamily="18" charset="0"/>
                <a:ea typeface="Times New Roman" panose="02020603050405020304" pitchFamily="18" charset="0"/>
              </a:rPr>
              <a:t>Consultation des logs par niveau de gravité : : possibilité d’afficher les logs selon leur niveau.</a:t>
            </a:r>
          </a:p>
        </p:txBody>
      </p:sp>
      <p:sp>
        <p:nvSpPr>
          <p:cNvPr id="6" name="TextBox 5">
            <a:extLst>
              <a:ext uri="{FF2B5EF4-FFF2-40B4-BE49-F238E27FC236}">
                <a16:creationId xmlns:a16="http://schemas.microsoft.com/office/drawing/2014/main" id="{F358A79B-42B7-BC80-4F93-BD58DAF39761}"/>
              </a:ext>
            </a:extLst>
          </p:cNvPr>
          <p:cNvSpPr txBox="1"/>
          <p:nvPr/>
        </p:nvSpPr>
        <p:spPr>
          <a:xfrm>
            <a:off x="875713" y="1082826"/>
            <a:ext cx="10673862" cy="2800767"/>
          </a:xfrm>
          <a:prstGeom prst="rect">
            <a:avLst/>
          </a:prstGeom>
          <a:noFill/>
        </p:spPr>
        <p:txBody>
          <a:bodyPr wrap="square">
            <a:spAutoFit/>
          </a:bodyPr>
          <a:lstStyle/>
          <a:p>
            <a:pPr algn="just">
              <a:buNone/>
            </a:pPr>
            <a:r>
              <a:rPr lang="fr-CM" sz="2200" b="1" dirty="0">
                <a:solidFill>
                  <a:schemeClr val="bg1"/>
                </a:solidFill>
                <a:effectLst/>
                <a:latin typeface="Times New Roman" panose="02020603050405020304" pitchFamily="18" charset="0"/>
                <a:ea typeface="Times New Roman" panose="02020603050405020304" pitchFamily="18" charset="0"/>
              </a:rPr>
              <a:t>Les besoins fonctionnels de notre interface Web :</a:t>
            </a:r>
          </a:p>
          <a:p>
            <a:pPr marL="342900" lvl="0" indent="-342900" algn="just">
              <a:buFont typeface="Times New Roman" panose="02020603050405020304" pitchFamily="18" charset="0"/>
              <a:buChar char="-"/>
            </a:pPr>
            <a:r>
              <a:rPr lang="fr-CM" sz="2200" dirty="0">
                <a:solidFill>
                  <a:schemeClr val="bg1"/>
                </a:solidFill>
                <a:effectLst/>
                <a:latin typeface="Times New Roman" panose="02020603050405020304" pitchFamily="18" charset="0"/>
                <a:ea typeface="Times New Roman" panose="02020603050405020304" pitchFamily="18" charset="0"/>
              </a:rPr>
              <a:t>Authentification des utilisateurs : L’interface Web permet un accès sécurisé réservé aux utilisateurs autorisés.										</a:t>
            </a:r>
          </a:p>
          <a:p>
            <a:pPr marL="342900" lvl="0" indent="-342900" algn="just">
              <a:buFont typeface="Times New Roman" panose="02020603050405020304" pitchFamily="18" charset="0"/>
              <a:buChar char="-"/>
            </a:pPr>
            <a:r>
              <a:rPr lang="fr-CM" sz="2200" dirty="0">
                <a:solidFill>
                  <a:schemeClr val="bg1"/>
                </a:solidFill>
                <a:effectLst/>
                <a:latin typeface="Times New Roman" panose="02020603050405020304" pitchFamily="18" charset="0"/>
                <a:ea typeface="Times New Roman" panose="02020603050405020304" pitchFamily="18" charset="0"/>
              </a:rPr>
              <a:t>Consultation des logs par machines : possibilité d’afficher les logs générés par machine.	</a:t>
            </a:r>
          </a:p>
          <a:p>
            <a:pPr marL="342900" lvl="0" indent="-342900" algn="just">
              <a:buFont typeface="Times New Roman" panose="02020603050405020304" pitchFamily="18" charset="0"/>
              <a:buChar char="-"/>
            </a:pPr>
            <a:r>
              <a:rPr lang="fr-CM" sz="2200" dirty="0">
                <a:solidFill>
                  <a:schemeClr val="bg1"/>
                </a:solidFill>
                <a:effectLst/>
                <a:latin typeface="Times New Roman" panose="02020603050405020304" pitchFamily="18" charset="0"/>
                <a:ea typeface="Times New Roman" panose="02020603050405020304" pitchFamily="18" charset="0"/>
              </a:rPr>
              <a:t>Consultation des logs par niveau de gravité : : possibilité d’afficher les logs selon leur niveau.</a:t>
            </a:r>
          </a:p>
        </p:txBody>
      </p:sp>
      <p:sp>
        <p:nvSpPr>
          <p:cNvPr id="7" name="Rectangle 6">
            <a:extLst>
              <a:ext uri="{FF2B5EF4-FFF2-40B4-BE49-F238E27FC236}">
                <a16:creationId xmlns:a16="http://schemas.microsoft.com/office/drawing/2014/main" id="{2B73BADD-2A72-7E9C-576D-E4F2C4937581}"/>
              </a:ext>
            </a:extLst>
          </p:cNvPr>
          <p:cNvSpPr/>
          <p:nvPr/>
        </p:nvSpPr>
        <p:spPr>
          <a:xfrm>
            <a:off x="2579451" y="187470"/>
            <a:ext cx="6554808" cy="707886"/>
          </a:xfrm>
          <a:prstGeom prst="rect">
            <a:avLst/>
          </a:prstGeom>
          <a:noFill/>
        </p:spPr>
        <p:txBody>
          <a:bodyPr wrap="none" lIns="91440" tIns="45720" rIns="91440" bIns="45720">
            <a:spAutoFit/>
          </a:bodyPr>
          <a:lstStyle/>
          <a:p>
            <a:pPr algn="ctr"/>
            <a:r>
              <a:rPr lang="en-US" sz="4000" b="1" cap="none" spc="0" dirty="0">
                <a:ln w="0"/>
                <a:solidFill>
                  <a:schemeClr val="bg1"/>
                </a:solidFill>
                <a:effectLst>
                  <a:outerShdw blurRad="38100" dist="19050" dir="2700000" algn="tl" rotWithShape="0">
                    <a:schemeClr val="dk1">
                      <a:alpha val="40000"/>
                    </a:schemeClr>
                  </a:outerShdw>
                </a:effectLst>
              </a:rPr>
              <a:t>BESOINS DE L’INTERFACE WEB</a:t>
            </a:r>
          </a:p>
        </p:txBody>
      </p:sp>
    </p:spTree>
    <p:extLst>
      <p:ext uri="{BB962C8B-B14F-4D97-AF65-F5344CB8AC3E}">
        <p14:creationId xmlns:p14="http://schemas.microsoft.com/office/powerpoint/2010/main" val="3362221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computer">
            <a:extLst>
              <a:ext uri="{FF2B5EF4-FFF2-40B4-BE49-F238E27FC236}">
                <a16:creationId xmlns:a16="http://schemas.microsoft.com/office/drawing/2014/main" id="{CB83F6C3-3525-28A5-7030-8019433AF12B}"/>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9D68744-EED9-2962-1E3D-5929089CBC91}"/>
              </a:ext>
            </a:extLst>
          </p:cNvPr>
          <p:cNvSpPr txBox="1"/>
          <p:nvPr/>
        </p:nvSpPr>
        <p:spPr>
          <a:xfrm>
            <a:off x="801859" y="436098"/>
            <a:ext cx="7047914" cy="1200329"/>
          </a:xfrm>
          <a:prstGeom prst="rect">
            <a:avLst/>
          </a:prstGeom>
          <a:noFill/>
        </p:spPr>
        <p:txBody>
          <a:bodyPr wrap="square" rtlCol="0">
            <a:spAutoFit/>
          </a:bodyPr>
          <a:lstStyle/>
          <a:p>
            <a:r>
              <a:rPr lang="fr-FR" sz="3600" dirty="0">
                <a:solidFill>
                  <a:schemeClr val="bg1"/>
                </a:solidFill>
              </a:rPr>
              <a:t>IV. </a:t>
            </a:r>
            <a:r>
              <a:rPr lang="fr-CM" sz="3600" dirty="0">
                <a:solidFill>
                  <a:schemeClr val="bg1"/>
                </a:solidFill>
              </a:rPr>
              <a:t>EVALUATION DES RESSOURCES</a:t>
            </a:r>
          </a:p>
          <a:p>
            <a:endParaRPr lang="fr-CM" sz="3600" dirty="0">
              <a:solidFill>
                <a:schemeClr val="bg1"/>
              </a:solidFill>
            </a:endParaRPr>
          </a:p>
        </p:txBody>
      </p:sp>
      <p:sp>
        <p:nvSpPr>
          <p:cNvPr id="10" name="TextBox 9">
            <a:extLst>
              <a:ext uri="{FF2B5EF4-FFF2-40B4-BE49-F238E27FC236}">
                <a16:creationId xmlns:a16="http://schemas.microsoft.com/office/drawing/2014/main" id="{E045F3E7-100E-15B2-3546-2A2414AE65C9}"/>
              </a:ext>
            </a:extLst>
          </p:cNvPr>
          <p:cNvSpPr txBox="1"/>
          <p:nvPr/>
        </p:nvSpPr>
        <p:spPr>
          <a:xfrm>
            <a:off x="1227407" y="1152054"/>
            <a:ext cx="6196818" cy="368755"/>
          </a:xfrm>
          <a:prstGeom prst="rect">
            <a:avLst/>
          </a:prstGeom>
          <a:noFill/>
        </p:spPr>
        <p:txBody>
          <a:bodyPr wrap="square">
            <a:spAutoFit/>
          </a:bodyPr>
          <a:lstStyle/>
          <a:p>
            <a:pPr marL="342900" lvl="0" indent="-342900" algn="just">
              <a:lnSpc>
                <a:spcPct val="107000"/>
              </a:lnSpc>
              <a:spcBef>
                <a:spcPts val="200"/>
              </a:spcBef>
              <a:buFont typeface="+mj-lt"/>
              <a:buAutoNum type="arabicPeriod"/>
            </a:pPr>
            <a:r>
              <a:rPr lang="fr-CM" sz="18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Ressources logicielles</a:t>
            </a:r>
          </a:p>
        </p:txBody>
      </p:sp>
      <p:graphicFrame>
        <p:nvGraphicFramePr>
          <p:cNvPr id="12" name="Table 11">
            <a:extLst>
              <a:ext uri="{FF2B5EF4-FFF2-40B4-BE49-F238E27FC236}">
                <a16:creationId xmlns:a16="http://schemas.microsoft.com/office/drawing/2014/main" id="{02E60DE9-09BF-CC9C-5A70-0787F5FF625C}"/>
              </a:ext>
            </a:extLst>
          </p:cNvPr>
          <p:cNvGraphicFramePr>
            <a:graphicFrameLocks noGrp="1"/>
          </p:cNvGraphicFramePr>
          <p:nvPr>
            <p:extLst>
              <p:ext uri="{D42A27DB-BD31-4B8C-83A1-F6EECF244321}">
                <p14:modId xmlns:p14="http://schemas.microsoft.com/office/powerpoint/2010/main" val="3356711251"/>
              </p:ext>
            </p:extLst>
          </p:nvPr>
        </p:nvGraphicFramePr>
        <p:xfrm>
          <a:off x="1510959" y="1816931"/>
          <a:ext cx="8655596" cy="3777624"/>
        </p:xfrm>
        <a:graphic>
          <a:graphicData uri="http://schemas.openxmlformats.org/drawingml/2006/table">
            <a:tbl>
              <a:tblPr firstRow="1" bandRow="1">
                <a:tableStyleId>{5C22544A-7EE6-4342-B048-85BDC9FD1C3A}</a:tableStyleId>
              </a:tblPr>
              <a:tblGrid>
                <a:gridCol w="2163899">
                  <a:extLst>
                    <a:ext uri="{9D8B030D-6E8A-4147-A177-3AD203B41FA5}">
                      <a16:colId xmlns:a16="http://schemas.microsoft.com/office/drawing/2014/main" val="2741885063"/>
                    </a:ext>
                  </a:extLst>
                </a:gridCol>
                <a:gridCol w="2163899">
                  <a:extLst>
                    <a:ext uri="{9D8B030D-6E8A-4147-A177-3AD203B41FA5}">
                      <a16:colId xmlns:a16="http://schemas.microsoft.com/office/drawing/2014/main" val="1370976787"/>
                    </a:ext>
                  </a:extLst>
                </a:gridCol>
                <a:gridCol w="2163899">
                  <a:extLst>
                    <a:ext uri="{9D8B030D-6E8A-4147-A177-3AD203B41FA5}">
                      <a16:colId xmlns:a16="http://schemas.microsoft.com/office/drawing/2014/main" val="3900269002"/>
                    </a:ext>
                  </a:extLst>
                </a:gridCol>
                <a:gridCol w="2163899">
                  <a:extLst>
                    <a:ext uri="{9D8B030D-6E8A-4147-A177-3AD203B41FA5}">
                      <a16:colId xmlns:a16="http://schemas.microsoft.com/office/drawing/2014/main" val="1952815380"/>
                    </a:ext>
                  </a:extLst>
                </a:gridCol>
              </a:tblGrid>
              <a:tr h="651572">
                <a:tc>
                  <a:txBody>
                    <a:bodyPr/>
                    <a:lstStyle/>
                    <a:p>
                      <a:pPr algn="ctr">
                        <a:lnSpc>
                          <a:spcPct val="107000"/>
                        </a:lnSpc>
                        <a:spcAft>
                          <a:spcPts val="800"/>
                        </a:spcAft>
                        <a:buNone/>
                      </a:pPr>
                      <a:r>
                        <a:rPr lang="fr-CM" sz="1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Titre</a:t>
                      </a:r>
                    </a:p>
                  </a:txBody>
                  <a:tcPr marL="68580" marR="68580" marT="0" marB="0"/>
                </a:tc>
                <a:tc>
                  <a:txBody>
                    <a:bodyPr/>
                    <a:lstStyle/>
                    <a:p>
                      <a:pPr algn="ctr">
                        <a:lnSpc>
                          <a:spcPct val="107000"/>
                        </a:lnSpc>
                        <a:spcAft>
                          <a:spcPts val="800"/>
                        </a:spcAft>
                        <a:buNone/>
                      </a:pPr>
                      <a:r>
                        <a:rPr lang="fr-CM" sz="1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Logos</a:t>
                      </a:r>
                    </a:p>
                  </a:txBody>
                  <a:tcPr marL="68580" marR="68580" marT="0" marB="0"/>
                </a:tc>
                <a:tc>
                  <a:txBody>
                    <a:bodyPr/>
                    <a:lstStyle/>
                    <a:p>
                      <a:pPr algn="ctr">
                        <a:lnSpc>
                          <a:spcPct val="107000"/>
                        </a:lnSpc>
                        <a:spcAft>
                          <a:spcPts val="800"/>
                        </a:spcAft>
                        <a:buNone/>
                      </a:pPr>
                      <a:r>
                        <a:rPr lang="fr-CM" sz="1800" kern="10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Description</a:t>
                      </a:r>
                    </a:p>
                  </a:txBody>
                  <a:tcPr marL="68580" marR="68580" marT="0" marB="0"/>
                </a:tc>
                <a:tc>
                  <a:txBody>
                    <a:bodyPr/>
                    <a:lstStyle/>
                    <a:p>
                      <a:pPr algn="ctr">
                        <a:lnSpc>
                          <a:spcPct val="107000"/>
                        </a:lnSpc>
                        <a:spcAft>
                          <a:spcPts val="800"/>
                        </a:spcAft>
                        <a:buNone/>
                      </a:pPr>
                      <a:r>
                        <a:rPr lang="fr-CM" sz="1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Prix</a:t>
                      </a:r>
                    </a:p>
                  </a:txBody>
                  <a:tcPr marL="68580" marR="68580" marT="0" marB="0"/>
                </a:tc>
                <a:extLst>
                  <a:ext uri="{0D108BD9-81ED-4DB2-BD59-A6C34878D82A}">
                    <a16:rowId xmlns:a16="http://schemas.microsoft.com/office/drawing/2014/main" val="1882443883"/>
                  </a:ext>
                </a:extLst>
              </a:tr>
              <a:tr h="1120271">
                <a:tc>
                  <a:txBody>
                    <a:bodyPr/>
                    <a:lstStyle/>
                    <a:p>
                      <a:pPr algn="l">
                        <a:lnSpc>
                          <a:spcPct val="107000"/>
                        </a:lnSpc>
                        <a:spcAft>
                          <a:spcPts val="800"/>
                        </a:spcAft>
                        <a:buNone/>
                      </a:pPr>
                      <a:r>
                        <a:rPr lang="fr-CM" sz="1800" kern="100" dirty="0" err="1">
                          <a:solidFill>
                            <a:srgbClr val="000000"/>
                          </a:solidFill>
                          <a:effectLst/>
                          <a:latin typeface="Times New Roman" panose="02020603050405020304" pitchFamily="18" charset="0"/>
                          <a:ea typeface="Calibri" panose="020F0502020204030204" pitchFamily="34" charset="0"/>
                          <a:cs typeface="Calibri" panose="020F0502020204030204" pitchFamily="34" charset="0"/>
                        </a:rPr>
                        <a:t>OpenBSD</a:t>
                      </a:r>
                      <a:endParaRPr lang="fr-CM" sz="18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buNone/>
                      </a:pPr>
                      <a:endParaRPr lang="fr-CM" sz="1100" kern="100" dirty="0">
                        <a:effectLst/>
                        <a:latin typeface="Calibri" panose="020F0502020204030204" pitchFamily="34" charset="0"/>
                        <a:cs typeface="Times New Roman" panose="02020603050405020304" pitchFamily="18" charset="0"/>
                      </a:endParaRPr>
                    </a:p>
                  </a:txBody>
                  <a:tcPr marL="68580" marR="68580" marT="0" marB="0"/>
                </a:tc>
                <a:tc>
                  <a:txBody>
                    <a:bodyPr/>
                    <a:lstStyle/>
                    <a:p>
                      <a:r>
                        <a:rPr lang="fr-CM" sz="1800" kern="1200" dirty="0">
                          <a:solidFill>
                            <a:schemeClr val="dk1"/>
                          </a:solidFill>
                          <a:effectLst/>
                          <a:latin typeface="+mn-lt"/>
                          <a:ea typeface="+mn-ea"/>
                          <a:cs typeface="+mn-cs"/>
                        </a:rPr>
                        <a:t>Système d’exploitation</a:t>
                      </a:r>
                      <a:endParaRPr lang="fr-CM" dirty="0"/>
                    </a:p>
                  </a:txBody>
                  <a:tcPr/>
                </a:tc>
                <a:tc>
                  <a:txBody>
                    <a:bodyPr/>
                    <a:lstStyle/>
                    <a:p>
                      <a:pPr algn="just">
                        <a:lnSpc>
                          <a:spcPct val="107000"/>
                        </a:lnSpc>
                        <a:spcAft>
                          <a:spcPts val="800"/>
                        </a:spcAft>
                        <a:buNone/>
                      </a:pPr>
                      <a:r>
                        <a:rPr lang="fr-CM" sz="1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rPr>
                        <a:t>0f (gratuit)</a:t>
                      </a:r>
                    </a:p>
                  </a:txBody>
                  <a:tcPr marL="68580" marR="68580" marT="0" marB="0"/>
                </a:tc>
                <a:extLst>
                  <a:ext uri="{0D108BD9-81ED-4DB2-BD59-A6C34878D82A}">
                    <a16:rowId xmlns:a16="http://schemas.microsoft.com/office/drawing/2014/main" val="1658624730"/>
                  </a:ext>
                </a:extLst>
              </a:tr>
              <a:tr h="976748">
                <a:tc>
                  <a:txBody>
                    <a:bodyPr/>
                    <a:lstStyle/>
                    <a:p>
                      <a:pPr algn="l">
                        <a:lnSpc>
                          <a:spcPct val="107000"/>
                        </a:lnSpc>
                        <a:spcAft>
                          <a:spcPts val="800"/>
                        </a:spcAft>
                        <a:buNone/>
                      </a:pPr>
                      <a:r>
                        <a:rPr lang="fr-FR" sz="18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rPr>
                        <a:t>I</a:t>
                      </a:r>
                      <a:r>
                        <a:rPr lang="fr-CM" sz="18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rPr>
                        <a:t>DE</a:t>
                      </a:r>
                    </a:p>
                  </a:txBody>
                  <a:tcPr marL="68580" marR="68580" marT="0" marB="0"/>
                </a:tc>
                <a:tc>
                  <a:txBody>
                    <a:bodyPr/>
                    <a:lstStyle/>
                    <a:p>
                      <a:pPr algn="ctr">
                        <a:buNone/>
                      </a:pPr>
                      <a:r>
                        <a:rPr lang="fr-FR" sz="2800" kern="100" dirty="0">
                          <a:effectLst/>
                          <a:latin typeface="Calibri" panose="020F0502020204030204" pitchFamily="34" charset="0"/>
                          <a:cs typeface="Times New Roman" panose="02020603050405020304" pitchFamily="18" charset="0"/>
                        </a:rPr>
                        <a:t>Au choix</a:t>
                      </a:r>
                      <a:endParaRPr lang="fr-CM" sz="2800" kern="100" dirty="0">
                        <a:effectLst/>
                        <a:latin typeface="Calibri" panose="020F0502020204030204" pitchFamily="34" charset="0"/>
                        <a:cs typeface="Times New Roman" panose="02020603050405020304" pitchFamily="18" charset="0"/>
                      </a:endParaRPr>
                    </a:p>
                  </a:txBody>
                  <a:tcPr marL="68580" marR="68580" marT="0" marB="0"/>
                </a:tc>
                <a:tc>
                  <a:txBody>
                    <a:bodyPr/>
                    <a:lstStyle/>
                    <a:p>
                      <a:r>
                        <a:rPr lang="fr-CM" sz="1800" kern="1200" dirty="0">
                          <a:solidFill>
                            <a:schemeClr val="dk1"/>
                          </a:solidFill>
                          <a:effectLst/>
                          <a:latin typeface="+mn-lt"/>
                          <a:ea typeface="+mn-ea"/>
                          <a:cs typeface="+mn-cs"/>
                        </a:rPr>
                        <a:t>Editeur de texte</a:t>
                      </a:r>
                      <a:endParaRPr lang="fr-CM" dirty="0"/>
                    </a:p>
                  </a:txBody>
                  <a:tcPr/>
                </a:tc>
                <a:tc>
                  <a:txBody>
                    <a:bodyPr/>
                    <a:lstStyle/>
                    <a:p>
                      <a:pPr algn="just">
                        <a:lnSpc>
                          <a:spcPct val="107000"/>
                        </a:lnSpc>
                        <a:spcAft>
                          <a:spcPts val="800"/>
                        </a:spcAft>
                        <a:buNone/>
                      </a:pPr>
                      <a:r>
                        <a:rPr lang="fr-CM" sz="1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rPr>
                        <a:t>0f (Gratuit)</a:t>
                      </a:r>
                    </a:p>
                  </a:txBody>
                  <a:tcPr marL="68580" marR="68580" marT="0" marB="0"/>
                </a:tc>
                <a:extLst>
                  <a:ext uri="{0D108BD9-81ED-4DB2-BD59-A6C34878D82A}">
                    <a16:rowId xmlns:a16="http://schemas.microsoft.com/office/drawing/2014/main" val="2655739279"/>
                  </a:ext>
                </a:extLst>
              </a:tr>
              <a:tr h="1029033">
                <a:tc>
                  <a:txBody>
                    <a:bodyPr/>
                    <a:lstStyle/>
                    <a:p>
                      <a:r>
                        <a:rPr lang="fr-CM" dirty="0"/>
                        <a:t>Ubuntu</a:t>
                      </a:r>
                    </a:p>
                  </a:txBody>
                  <a:tcPr/>
                </a:tc>
                <a:tc>
                  <a:txBody>
                    <a:bodyPr/>
                    <a:lstStyle/>
                    <a:p>
                      <a:endParaRPr lang="fr-CM" dirty="0"/>
                    </a:p>
                  </a:txBody>
                  <a:tcPr/>
                </a:tc>
                <a:tc>
                  <a:txBody>
                    <a:bodyPr/>
                    <a:lstStyle/>
                    <a:p>
                      <a:r>
                        <a:rPr lang="fr-CM" dirty="0"/>
                        <a:t>Système d’exploitation</a:t>
                      </a:r>
                    </a:p>
                  </a:txBody>
                  <a:tcPr/>
                </a:tc>
                <a:tc>
                  <a:txBody>
                    <a:bodyPr/>
                    <a:lstStyle/>
                    <a:p>
                      <a:r>
                        <a:rPr lang="fr-CM" dirty="0"/>
                        <a:t>0f (gratuit)</a:t>
                      </a:r>
                    </a:p>
                  </a:txBody>
                  <a:tcPr/>
                </a:tc>
                <a:extLst>
                  <a:ext uri="{0D108BD9-81ED-4DB2-BD59-A6C34878D82A}">
                    <a16:rowId xmlns:a16="http://schemas.microsoft.com/office/drawing/2014/main" val="1121053201"/>
                  </a:ext>
                </a:extLst>
              </a:tr>
            </a:tbl>
          </a:graphicData>
        </a:graphic>
      </p:graphicFrame>
      <p:pic>
        <p:nvPicPr>
          <p:cNvPr id="17" name="Image 2" descr="OpenBSD Logo - LogoDix">
            <a:extLst>
              <a:ext uri="{FF2B5EF4-FFF2-40B4-BE49-F238E27FC236}">
                <a16:creationId xmlns:a16="http://schemas.microsoft.com/office/drawing/2014/main" id="{18ADB894-8C4F-D8B6-A872-789AB2F0458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6082" y="2454275"/>
            <a:ext cx="1424940" cy="974725"/>
          </a:xfrm>
          <a:prstGeom prst="rect">
            <a:avLst/>
          </a:prstGeom>
          <a:noFill/>
          <a:ln>
            <a:noFill/>
          </a:ln>
        </p:spPr>
      </p:pic>
      <p:pic>
        <p:nvPicPr>
          <p:cNvPr id="1028" name="Image 2" descr="OpenBSD Logo - LogoDix">
            <a:extLst>
              <a:ext uri="{FF2B5EF4-FFF2-40B4-BE49-F238E27FC236}">
                <a16:creationId xmlns:a16="http://schemas.microsoft.com/office/drawing/2014/main" id="{219C5DDE-C79B-7764-D141-C50051661E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428750" cy="971550"/>
          </a:xfrm>
          <a:prstGeom prst="rect">
            <a:avLst/>
          </a:prstGeom>
          <a:noFill/>
          <a:extLst>
            <a:ext uri="{909E8E84-426E-40DD-AFC4-6F175D3DCCD1}">
              <a14:hiddenFill xmlns:a14="http://schemas.microsoft.com/office/drawing/2010/main">
                <a:solidFill>
                  <a:srgbClr val="FFFFFF"/>
                </a:solidFill>
              </a14:hiddenFill>
            </a:ext>
          </a:extLst>
        </p:spPr>
      </p:pic>
      <p:pic>
        <p:nvPicPr>
          <p:cNvPr id="1027" name="Image 69">
            <a:extLst>
              <a:ext uri="{FF2B5EF4-FFF2-40B4-BE49-F238E27FC236}">
                <a16:creationId xmlns:a16="http://schemas.microsoft.com/office/drawing/2014/main" id="{56E8C49B-2434-C59A-77C0-DDDE656045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3716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026" name="Image 5">
            <a:extLst>
              <a:ext uri="{FF2B5EF4-FFF2-40B4-BE49-F238E27FC236}">
                <a16:creationId xmlns:a16="http://schemas.microsoft.com/office/drawing/2014/main" id="{1CB1D7A0-92BC-1C76-52B4-3D6AFF91B5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476375" cy="619125"/>
          </a:xfrm>
          <a:prstGeom prst="rect">
            <a:avLst/>
          </a:prstGeom>
          <a:noFill/>
          <a:extLst>
            <a:ext uri="{909E8E84-426E-40DD-AFC4-6F175D3DCCD1}">
              <a14:hiddenFill xmlns:a14="http://schemas.microsoft.com/office/drawing/2010/main">
                <a:solidFill>
                  <a:srgbClr val="FFFFFF"/>
                </a:solidFill>
              </a14:hiddenFill>
            </a:ext>
          </a:extLst>
        </p:spPr>
      </p:pic>
      <p:pic>
        <p:nvPicPr>
          <p:cNvPr id="1025" name="Image 91">
            <a:extLst>
              <a:ext uri="{FF2B5EF4-FFF2-40B4-BE49-F238E27FC236}">
                <a16:creationId xmlns:a16="http://schemas.microsoft.com/office/drawing/2014/main" id="{B8B5F098-1BFD-88F1-6D1B-E143A14A54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V="1">
            <a:off x="0" y="0"/>
            <a:ext cx="1390650" cy="80962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B34D86F9-CA3F-4668-FBA5-AB5C4A6E4A6D}"/>
              </a:ext>
            </a:extLst>
          </p:cNvPr>
          <p:cNvPicPr>
            <a:picLocks noChangeAspect="1"/>
          </p:cNvPicPr>
          <p:nvPr/>
        </p:nvPicPr>
        <p:blipFill>
          <a:blip r:embed="rId7"/>
          <a:stretch>
            <a:fillRect/>
          </a:stretch>
        </p:blipFill>
        <p:spPr>
          <a:xfrm>
            <a:off x="4048517" y="4664592"/>
            <a:ext cx="1220070" cy="813380"/>
          </a:xfrm>
          <a:prstGeom prst="rect">
            <a:avLst/>
          </a:prstGeom>
        </p:spPr>
      </p:pic>
    </p:spTree>
    <p:extLst>
      <p:ext uri="{BB962C8B-B14F-4D97-AF65-F5344CB8AC3E}">
        <p14:creationId xmlns:p14="http://schemas.microsoft.com/office/powerpoint/2010/main" val="3041121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A7BC1701-CC11-7D37-4A78-57EF6B340E85}"/>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46EE6609-CA0E-577B-99E4-CDD8A89F4B46}"/>
              </a:ext>
            </a:extLst>
          </p:cNvPr>
          <p:cNvSpPr txBox="1"/>
          <p:nvPr/>
        </p:nvSpPr>
        <p:spPr>
          <a:xfrm>
            <a:off x="1030458" y="575278"/>
            <a:ext cx="6196818" cy="460895"/>
          </a:xfrm>
          <a:prstGeom prst="rect">
            <a:avLst/>
          </a:prstGeom>
          <a:noFill/>
        </p:spPr>
        <p:txBody>
          <a:bodyPr wrap="square">
            <a:spAutoFit/>
          </a:bodyPr>
          <a:lstStyle/>
          <a:p>
            <a:pPr lvl="0" algn="just">
              <a:lnSpc>
                <a:spcPct val="107000"/>
              </a:lnSpc>
              <a:spcBef>
                <a:spcPts val="200"/>
              </a:spcBef>
            </a:pPr>
            <a:r>
              <a:rPr lang="fr-CM" sz="2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2. Ressources matérielles</a:t>
            </a:r>
          </a:p>
        </p:txBody>
      </p:sp>
      <p:graphicFrame>
        <p:nvGraphicFramePr>
          <p:cNvPr id="7" name="Table 6">
            <a:extLst>
              <a:ext uri="{FF2B5EF4-FFF2-40B4-BE49-F238E27FC236}">
                <a16:creationId xmlns:a16="http://schemas.microsoft.com/office/drawing/2014/main" id="{9785706E-55A8-170D-C382-BB68CD5126FA}"/>
              </a:ext>
            </a:extLst>
          </p:cNvPr>
          <p:cNvGraphicFramePr>
            <a:graphicFrameLocks noGrp="1"/>
          </p:cNvGraphicFramePr>
          <p:nvPr>
            <p:extLst>
              <p:ext uri="{D42A27DB-BD31-4B8C-83A1-F6EECF244321}">
                <p14:modId xmlns:p14="http://schemas.microsoft.com/office/powerpoint/2010/main" val="609816583"/>
              </p:ext>
            </p:extLst>
          </p:nvPr>
        </p:nvGraphicFramePr>
        <p:xfrm>
          <a:off x="1557995" y="1273578"/>
          <a:ext cx="9527347" cy="1168051"/>
        </p:xfrm>
        <a:graphic>
          <a:graphicData uri="http://schemas.openxmlformats.org/drawingml/2006/table">
            <a:tbl>
              <a:tblPr firstRow="1" firstCol="1" bandRow="1">
                <a:tableStyleId>{5C22544A-7EE6-4342-B048-85BDC9FD1C3A}</a:tableStyleId>
              </a:tblPr>
              <a:tblGrid>
                <a:gridCol w="4415549">
                  <a:extLst>
                    <a:ext uri="{9D8B030D-6E8A-4147-A177-3AD203B41FA5}">
                      <a16:colId xmlns:a16="http://schemas.microsoft.com/office/drawing/2014/main" val="4210003151"/>
                    </a:ext>
                  </a:extLst>
                </a:gridCol>
                <a:gridCol w="5111798">
                  <a:extLst>
                    <a:ext uri="{9D8B030D-6E8A-4147-A177-3AD203B41FA5}">
                      <a16:colId xmlns:a16="http://schemas.microsoft.com/office/drawing/2014/main" val="3417249460"/>
                    </a:ext>
                  </a:extLst>
                </a:gridCol>
              </a:tblGrid>
              <a:tr h="456748">
                <a:tc>
                  <a:txBody>
                    <a:bodyPr/>
                    <a:lstStyle/>
                    <a:p>
                      <a:pPr algn="just">
                        <a:lnSpc>
                          <a:spcPct val="107000"/>
                        </a:lnSpc>
                        <a:spcAft>
                          <a:spcPts val="800"/>
                        </a:spcAft>
                        <a:buNone/>
                      </a:pPr>
                      <a:r>
                        <a:rPr lang="fr-CM" sz="2000" kern="100">
                          <a:effectLst/>
                        </a:rPr>
                        <a:t>Noms</a:t>
                      </a:r>
                      <a:endParaRPr lang="fr-CM" sz="20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000" kern="100">
                          <a:effectLst/>
                        </a:rPr>
                        <a:t>Coût</a:t>
                      </a:r>
                      <a:endParaRPr lang="fr-CM" sz="20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798867185"/>
                  </a:ext>
                </a:extLst>
              </a:tr>
              <a:tr h="711303">
                <a:tc>
                  <a:txBody>
                    <a:bodyPr/>
                    <a:lstStyle/>
                    <a:p>
                      <a:pPr algn="just">
                        <a:lnSpc>
                          <a:spcPct val="107000"/>
                        </a:lnSpc>
                        <a:spcAft>
                          <a:spcPts val="800"/>
                        </a:spcAft>
                        <a:buNone/>
                      </a:pPr>
                      <a:r>
                        <a:rPr lang="fr-CM" sz="2000" kern="100" dirty="0">
                          <a:effectLst/>
                        </a:rPr>
                        <a:t>Ordinateur Portable (min 512g de mémoire)</a:t>
                      </a:r>
                      <a:endParaRPr lang="fr-CM" sz="20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000" kern="100" dirty="0">
                          <a:effectLst/>
                        </a:rPr>
                        <a:t>300.000FCFA</a:t>
                      </a:r>
                      <a:endParaRPr lang="fr-CM" sz="20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998618998"/>
                  </a:ext>
                </a:extLst>
              </a:tr>
            </a:tbl>
          </a:graphicData>
        </a:graphic>
      </p:graphicFrame>
      <p:sp>
        <p:nvSpPr>
          <p:cNvPr id="9" name="TextBox 8">
            <a:extLst>
              <a:ext uri="{FF2B5EF4-FFF2-40B4-BE49-F238E27FC236}">
                <a16:creationId xmlns:a16="http://schemas.microsoft.com/office/drawing/2014/main" id="{B862E814-70AB-1EEC-7C7F-AD182BD9DFCA}"/>
              </a:ext>
            </a:extLst>
          </p:cNvPr>
          <p:cNvSpPr txBox="1"/>
          <p:nvPr/>
        </p:nvSpPr>
        <p:spPr>
          <a:xfrm>
            <a:off x="1030458" y="2905497"/>
            <a:ext cx="6196818" cy="460895"/>
          </a:xfrm>
          <a:prstGeom prst="rect">
            <a:avLst/>
          </a:prstGeom>
          <a:noFill/>
        </p:spPr>
        <p:txBody>
          <a:bodyPr wrap="square">
            <a:spAutoFit/>
          </a:bodyPr>
          <a:lstStyle/>
          <a:p>
            <a:pPr lvl="0" algn="just">
              <a:lnSpc>
                <a:spcPct val="107000"/>
              </a:lnSpc>
              <a:spcBef>
                <a:spcPts val="200"/>
              </a:spcBef>
            </a:pPr>
            <a:r>
              <a:rPr lang="fr-CM" sz="24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3.Ressources humaines</a:t>
            </a:r>
          </a:p>
        </p:txBody>
      </p:sp>
      <p:graphicFrame>
        <p:nvGraphicFramePr>
          <p:cNvPr id="10" name="Table 9">
            <a:extLst>
              <a:ext uri="{FF2B5EF4-FFF2-40B4-BE49-F238E27FC236}">
                <a16:creationId xmlns:a16="http://schemas.microsoft.com/office/drawing/2014/main" id="{5689A042-0590-F8CF-8218-D57112878725}"/>
              </a:ext>
            </a:extLst>
          </p:cNvPr>
          <p:cNvGraphicFramePr>
            <a:graphicFrameLocks noGrp="1"/>
          </p:cNvGraphicFramePr>
          <p:nvPr>
            <p:extLst>
              <p:ext uri="{D42A27DB-BD31-4B8C-83A1-F6EECF244321}">
                <p14:modId xmlns:p14="http://schemas.microsoft.com/office/powerpoint/2010/main" val="1903817982"/>
              </p:ext>
            </p:extLst>
          </p:nvPr>
        </p:nvGraphicFramePr>
        <p:xfrm>
          <a:off x="1557995" y="3422664"/>
          <a:ext cx="9527347" cy="3336858"/>
        </p:xfrm>
        <a:graphic>
          <a:graphicData uri="http://schemas.openxmlformats.org/drawingml/2006/table">
            <a:tbl>
              <a:tblPr firstRow="1" firstCol="1" bandRow="1">
                <a:tableStyleId>{5C22544A-7EE6-4342-B048-85BDC9FD1C3A}</a:tableStyleId>
              </a:tblPr>
              <a:tblGrid>
                <a:gridCol w="3405216">
                  <a:extLst>
                    <a:ext uri="{9D8B030D-6E8A-4147-A177-3AD203B41FA5}">
                      <a16:colId xmlns:a16="http://schemas.microsoft.com/office/drawing/2014/main" val="2341810423"/>
                    </a:ext>
                  </a:extLst>
                </a:gridCol>
                <a:gridCol w="3157641">
                  <a:extLst>
                    <a:ext uri="{9D8B030D-6E8A-4147-A177-3AD203B41FA5}">
                      <a16:colId xmlns:a16="http://schemas.microsoft.com/office/drawing/2014/main" val="3955570964"/>
                    </a:ext>
                  </a:extLst>
                </a:gridCol>
                <a:gridCol w="2964490">
                  <a:extLst>
                    <a:ext uri="{9D8B030D-6E8A-4147-A177-3AD203B41FA5}">
                      <a16:colId xmlns:a16="http://schemas.microsoft.com/office/drawing/2014/main" val="573116093"/>
                    </a:ext>
                  </a:extLst>
                </a:gridCol>
              </a:tblGrid>
              <a:tr h="685839">
                <a:tc>
                  <a:txBody>
                    <a:bodyPr/>
                    <a:lstStyle/>
                    <a:p>
                      <a:pPr algn="just">
                        <a:lnSpc>
                          <a:spcPct val="107000"/>
                        </a:lnSpc>
                        <a:spcAft>
                          <a:spcPts val="800"/>
                        </a:spcAft>
                        <a:buNone/>
                      </a:pPr>
                      <a:r>
                        <a:rPr lang="fr-CM" sz="2400" kern="100">
                          <a:effectLst/>
                        </a:rPr>
                        <a:t>Fonctions</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dirty="0">
                          <a:effectLst/>
                        </a:rPr>
                        <a:t>Temps</a:t>
                      </a:r>
                      <a:endParaRPr lang="fr-CM" sz="2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a:effectLst/>
                        </a:rPr>
                        <a:t>Coût</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582874995"/>
                  </a:ext>
                </a:extLst>
              </a:tr>
              <a:tr h="685839">
                <a:tc>
                  <a:txBody>
                    <a:bodyPr/>
                    <a:lstStyle/>
                    <a:p>
                      <a:pPr algn="just">
                        <a:lnSpc>
                          <a:spcPct val="107000"/>
                        </a:lnSpc>
                        <a:spcAft>
                          <a:spcPts val="800"/>
                        </a:spcAft>
                        <a:buNone/>
                      </a:pPr>
                      <a:r>
                        <a:rPr lang="fr-CM" sz="2400" kern="100">
                          <a:effectLst/>
                        </a:rPr>
                        <a:t>Développeur Web</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a:effectLst/>
                        </a:rPr>
                        <a:t>03 semaines</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a:effectLst/>
                        </a:rPr>
                        <a:t>200.000FCFA</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43589542"/>
                  </a:ext>
                </a:extLst>
              </a:tr>
              <a:tr h="655060">
                <a:tc>
                  <a:txBody>
                    <a:bodyPr/>
                    <a:lstStyle/>
                    <a:p>
                      <a:pPr algn="just">
                        <a:lnSpc>
                          <a:spcPct val="107000"/>
                        </a:lnSpc>
                        <a:spcAft>
                          <a:spcPts val="800"/>
                        </a:spcAft>
                        <a:buNone/>
                      </a:pPr>
                      <a:r>
                        <a:rPr lang="fr-CM" sz="2400" kern="100">
                          <a:effectLst/>
                        </a:rPr>
                        <a:t>Administrateur système</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dirty="0">
                          <a:effectLst/>
                        </a:rPr>
                        <a:t>04 semaines</a:t>
                      </a:r>
                      <a:endParaRPr lang="fr-CM" sz="2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dirty="0">
                          <a:effectLst/>
                        </a:rPr>
                        <a:t>350.000FCFA</a:t>
                      </a:r>
                      <a:endParaRPr lang="fr-CM" sz="2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074398642"/>
                  </a:ext>
                </a:extLst>
              </a:tr>
              <a:tr h="655060">
                <a:tc>
                  <a:txBody>
                    <a:bodyPr/>
                    <a:lstStyle/>
                    <a:p>
                      <a:pPr algn="just">
                        <a:lnSpc>
                          <a:spcPct val="107000"/>
                        </a:lnSpc>
                        <a:spcAft>
                          <a:spcPts val="800"/>
                        </a:spcAft>
                        <a:buNone/>
                      </a:pPr>
                      <a:r>
                        <a:rPr lang="fr-CM" sz="2400" kern="100">
                          <a:effectLst/>
                        </a:rPr>
                        <a:t>Encadrant technique</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dirty="0">
                          <a:effectLst/>
                        </a:rPr>
                        <a:t>04 semaines</a:t>
                      </a:r>
                      <a:endParaRPr lang="fr-CM" sz="2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a:effectLst/>
                        </a:rPr>
                        <a:t>200.000FCFA</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586402729"/>
                  </a:ext>
                </a:extLst>
              </a:tr>
              <a:tr h="655060">
                <a:tc>
                  <a:txBody>
                    <a:bodyPr/>
                    <a:lstStyle/>
                    <a:p>
                      <a:pPr algn="just">
                        <a:lnSpc>
                          <a:spcPct val="107000"/>
                        </a:lnSpc>
                        <a:spcAft>
                          <a:spcPts val="800"/>
                        </a:spcAft>
                        <a:buNone/>
                      </a:pPr>
                      <a:r>
                        <a:rPr lang="fr-CM" sz="2400" kern="100">
                          <a:effectLst/>
                        </a:rPr>
                        <a:t>Total</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a:effectLst/>
                        </a:rPr>
                        <a:t> </a:t>
                      </a:r>
                      <a:endParaRPr lang="fr-CM" sz="2400" kern="10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tc>
                  <a:txBody>
                    <a:bodyPr/>
                    <a:lstStyle/>
                    <a:p>
                      <a:pPr algn="just">
                        <a:lnSpc>
                          <a:spcPct val="107000"/>
                        </a:lnSpc>
                        <a:spcAft>
                          <a:spcPts val="800"/>
                        </a:spcAft>
                        <a:buNone/>
                      </a:pPr>
                      <a:r>
                        <a:rPr lang="fr-CM" sz="2400" kern="100" dirty="0">
                          <a:effectLst/>
                        </a:rPr>
                        <a:t>800.000 FCFA</a:t>
                      </a:r>
                      <a:endParaRPr lang="fr-CM" sz="2400" kern="100" dirty="0">
                        <a:solidFill>
                          <a:srgbClr val="000000"/>
                        </a:solidFill>
                        <a:effectLst/>
                        <a:latin typeface="Times New Roman" panose="02020603050405020304" pitchFamily="18"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94851148"/>
                  </a:ext>
                </a:extLst>
              </a:tr>
            </a:tbl>
          </a:graphicData>
        </a:graphic>
      </p:graphicFrame>
    </p:spTree>
    <p:extLst>
      <p:ext uri="{BB962C8B-B14F-4D97-AF65-F5344CB8AC3E}">
        <p14:creationId xmlns:p14="http://schemas.microsoft.com/office/powerpoint/2010/main" val="3074472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A3D12-3592-4F29-46BC-8E44D8A98AAA}"/>
            </a:ext>
          </a:extLst>
        </p:cNvPr>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3638F467-E2AC-7E4E-0592-158525C09515}"/>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9E4F173-814E-5931-100D-29564CFD8BBE}"/>
              </a:ext>
            </a:extLst>
          </p:cNvPr>
          <p:cNvSpPr txBox="1"/>
          <p:nvPr/>
        </p:nvSpPr>
        <p:spPr>
          <a:xfrm>
            <a:off x="678765" y="448669"/>
            <a:ext cx="6763044" cy="583750"/>
          </a:xfrm>
          <a:prstGeom prst="rect">
            <a:avLst/>
          </a:prstGeom>
          <a:noFill/>
        </p:spPr>
        <p:txBody>
          <a:bodyPr wrap="square">
            <a:spAutoFit/>
          </a:bodyPr>
          <a:lstStyle/>
          <a:p>
            <a:pPr lvl="0" algn="just">
              <a:lnSpc>
                <a:spcPct val="107000"/>
              </a:lnSpc>
              <a:spcBef>
                <a:spcPts val="1200"/>
              </a:spcBef>
            </a:pPr>
            <a:r>
              <a:rPr lang="fr-CM" sz="3200" b="1" kern="1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V.  </a:t>
            </a:r>
            <a:r>
              <a:rPr lang="fr-CM" sz="3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PLANIFICATION DU PROJET</a:t>
            </a:r>
          </a:p>
        </p:txBody>
      </p:sp>
      <p:graphicFrame>
        <p:nvGraphicFramePr>
          <p:cNvPr id="3" name="Table 2">
            <a:extLst>
              <a:ext uri="{FF2B5EF4-FFF2-40B4-BE49-F238E27FC236}">
                <a16:creationId xmlns:a16="http://schemas.microsoft.com/office/drawing/2014/main" id="{C716AA2E-0081-CF14-C53F-D65C948901C9}"/>
              </a:ext>
            </a:extLst>
          </p:cNvPr>
          <p:cNvGraphicFramePr>
            <a:graphicFrameLocks noGrp="1"/>
          </p:cNvGraphicFramePr>
          <p:nvPr>
            <p:extLst>
              <p:ext uri="{D42A27DB-BD31-4B8C-83A1-F6EECF244321}">
                <p14:modId xmlns:p14="http://schemas.microsoft.com/office/powerpoint/2010/main" val="2498027674"/>
              </p:ext>
            </p:extLst>
          </p:nvPr>
        </p:nvGraphicFramePr>
        <p:xfrm>
          <a:off x="253998" y="1623261"/>
          <a:ext cx="11689473" cy="5115164"/>
        </p:xfrm>
        <a:graphic>
          <a:graphicData uri="http://schemas.openxmlformats.org/drawingml/2006/table">
            <a:tbl>
              <a:tblPr firstRow="1" bandRow="1">
                <a:tableStyleId>{5C22544A-7EE6-4342-B048-85BDC9FD1C3A}</a:tableStyleId>
              </a:tblPr>
              <a:tblGrid>
                <a:gridCol w="2574812">
                  <a:extLst>
                    <a:ext uri="{9D8B030D-6E8A-4147-A177-3AD203B41FA5}">
                      <a16:colId xmlns:a16="http://schemas.microsoft.com/office/drawing/2014/main" val="2235912734"/>
                    </a:ext>
                  </a:extLst>
                </a:gridCol>
                <a:gridCol w="8284278">
                  <a:extLst>
                    <a:ext uri="{9D8B030D-6E8A-4147-A177-3AD203B41FA5}">
                      <a16:colId xmlns:a16="http://schemas.microsoft.com/office/drawing/2014/main" val="1720042641"/>
                    </a:ext>
                  </a:extLst>
                </a:gridCol>
                <a:gridCol w="830383">
                  <a:extLst>
                    <a:ext uri="{9D8B030D-6E8A-4147-A177-3AD203B41FA5}">
                      <a16:colId xmlns:a16="http://schemas.microsoft.com/office/drawing/2014/main" val="2966276967"/>
                    </a:ext>
                  </a:extLst>
                </a:gridCol>
              </a:tblGrid>
              <a:tr h="406319">
                <a:tc>
                  <a:txBody>
                    <a:bodyPr/>
                    <a:lstStyle/>
                    <a:p>
                      <a:r>
                        <a:rPr lang="fr-CM" sz="1800" b="1" dirty="0">
                          <a:solidFill>
                            <a:schemeClr val="tx1"/>
                          </a:solidFill>
                          <a:effectLst/>
                          <a:latin typeface="Times New Roman" panose="02020603050405020304" pitchFamily="18" charset="0"/>
                          <a:ea typeface="Calibri" panose="020F0502020204030204" pitchFamily="34" charset="0"/>
                        </a:rPr>
                        <a:t>Semaines</a:t>
                      </a:r>
                      <a:endParaRPr lang="fr-CM" dirty="0">
                        <a:solidFill>
                          <a:schemeClr val="tx1"/>
                        </a:solidFill>
                      </a:endParaRPr>
                    </a:p>
                  </a:txBody>
                  <a:tcPr/>
                </a:tc>
                <a:tc>
                  <a:txBody>
                    <a:bodyPr/>
                    <a:lstStyle/>
                    <a:p>
                      <a:r>
                        <a:rPr lang="fr-FR" dirty="0">
                          <a:solidFill>
                            <a:schemeClr val="tx1"/>
                          </a:solidFill>
                        </a:rPr>
                        <a:t>Descriptions des tâches</a:t>
                      </a:r>
                      <a:endParaRPr lang="fr-CM" dirty="0">
                        <a:solidFill>
                          <a:schemeClr val="tx1"/>
                        </a:solidFill>
                      </a:endParaRPr>
                    </a:p>
                  </a:txBody>
                  <a:tcPr/>
                </a:tc>
                <a:tc>
                  <a:txBody>
                    <a:bodyPr/>
                    <a:lstStyle/>
                    <a:p>
                      <a:r>
                        <a:rPr lang="fr-FR" dirty="0">
                          <a:solidFill>
                            <a:schemeClr val="tx1"/>
                          </a:solidFill>
                        </a:rPr>
                        <a:t>Avis</a:t>
                      </a:r>
                      <a:endParaRPr lang="fr-CM" dirty="0">
                        <a:solidFill>
                          <a:schemeClr val="tx1"/>
                        </a:solidFill>
                      </a:endParaRPr>
                    </a:p>
                  </a:txBody>
                  <a:tcPr/>
                </a:tc>
                <a:extLst>
                  <a:ext uri="{0D108BD9-81ED-4DB2-BD59-A6C34878D82A}">
                    <a16:rowId xmlns:a16="http://schemas.microsoft.com/office/drawing/2014/main" val="3167825167"/>
                  </a:ext>
                </a:extLst>
              </a:tr>
              <a:tr h="701317">
                <a:tc>
                  <a:txBody>
                    <a:bodyPr/>
                    <a:lstStyle/>
                    <a:p>
                      <a:r>
                        <a:rPr lang="fr-CM" sz="1800" b="1" dirty="0">
                          <a:solidFill>
                            <a:schemeClr val="tx1"/>
                          </a:solidFill>
                          <a:effectLst/>
                          <a:latin typeface="Times New Roman" panose="02020603050405020304" pitchFamily="18" charset="0"/>
                          <a:ea typeface="Calibri" panose="020F0502020204030204" pitchFamily="34" charset="0"/>
                        </a:rPr>
                        <a:t>9/12/2025 – 15/12/2025</a:t>
                      </a:r>
                      <a:endParaRPr lang="fr-CM" dirty="0">
                        <a:solidFill>
                          <a:schemeClr val="tx1"/>
                        </a:solidFill>
                      </a:endParaRPr>
                    </a:p>
                  </a:txBody>
                  <a:tcPr/>
                </a:tc>
                <a:tc>
                  <a:txBody>
                    <a:bodyPr/>
                    <a:lstStyle/>
                    <a:p>
                      <a:pPr algn="just"/>
                      <a:r>
                        <a:rPr lang="fr-CM" sz="1800" dirty="0">
                          <a:solidFill>
                            <a:schemeClr val="tx1"/>
                          </a:solidFill>
                          <a:effectLst/>
                          <a:latin typeface="Times New Roman" panose="02020603050405020304" pitchFamily="18" charset="0"/>
                          <a:ea typeface="Times New Roman" panose="02020603050405020304" pitchFamily="18" charset="0"/>
                        </a:rPr>
                        <a:t>Analyse des besoins, étude des logs sous </a:t>
                      </a:r>
                      <a:r>
                        <a:rPr lang="fr-CM" sz="1800" dirty="0" err="1">
                          <a:solidFill>
                            <a:schemeClr val="tx1"/>
                          </a:solidFill>
                          <a:effectLst/>
                          <a:latin typeface="Times New Roman" panose="02020603050405020304" pitchFamily="18" charset="0"/>
                          <a:ea typeface="Times New Roman" panose="02020603050405020304" pitchFamily="18" charset="0"/>
                        </a:rPr>
                        <a:t>OpenBSD</a:t>
                      </a:r>
                      <a:r>
                        <a:rPr lang="fr-CM" sz="1800" dirty="0">
                          <a:solidFill>
                            <a:schemeClr val="tx1"/>
                          </a:solidFill>
                          <a:effectLst/>
                          <a:latin typeface="Times New Roman" panose="02020603050405020304" pitchFamily="18" charset="0"/>
                          <a:ea typeface="Times New Roman" panose="02020603050405020304" pitchFamily="18" charset="0"/>
                        </a:rPr>
                        <a:t> et rédaction du cahier des charges.			</a:t>
                      </a:r>
                      <a:endParaRPr lang="fr-CM" dirty="0">
                        <a:solidFill>
                          <a:schemeClr val="tx1"/>
                        </a:solidFill>
                      </a:endParaRPr>
                    </a:p>
                  </a:txBody>
                  <a:tcPr/>
                </a:tc>
                <a:tc>
                  <a:txBody>
                    <a:bodyPr/>
                    <a:lstStyle/>
                    <a:p>
                      <a:endParaRPr lang="fr-CM" dirty="0">
                        <a:solidFill>
                          <a:schemeClr val="tx1"/>
                        </a:solidFill>
                      </a:endParaRPr>
                    </a:p>
                  </a:txBody>
                  <a:tcPr/>
                </a:tc>
                <a:extLst>
                  <a:ext uri="{0D108BD9-81ED-4DB2-BD59-A6C34878D82A}">
                    <a16:rowId xmlns:a16="http://schemas.microsoft.com/office/drawing/2014/main" val="178366573"/>
                  </a:ext>
                </a:extLst>
              </a:tr>
              <a:tr h="1302447">
                <a:tc>
                  <a:txBody>
                    <a:bodyPr/>
                    <a:lstStyle/>
                    <a:p>
                      <a:r>
                        <a:rPr lang="fr-CM" sz="1800" b="1" dirty="0">
                          <a:solidFill>
                            <a:schemeClr val="tx1"/>
                          </a:solidFill>
                          <a:effectLst/>
                          <a:latin typeface="Times New Roman" panose="02020603050405020304" pitchFamily="18" charset="0"/>
                          <a:ea typeface="Times New Roman" panose="02020603050405020304" pitchFamily="18" charset="0"/>
                        </a:rPr>
                        <a:t>16/12/2025 – 04/01/2026</a:t>
                      </a:r>
                      <a:endParaRPr lang="fr-CM" dirty="0">
                        <a:solidFill>
                          <a:schemeClr val="tx1"/>
                        </a:solidFill>
                      </a:endParaRPr>
                    </a:p>
                  </a:txBody>
                  <a:tcPr/>
                </a:tc>
                <a:tc>
                  <a:txBody>
                    <a:bodyPr/>
                    <a:lstStyle/>
                    <a:p>
                      <a:pPr algn="just"/>
                      <a:r>
                        <a:rPr lang="fr-CM" sz="1800" dirty="0">
                          <a:solidFill>
                            <a:schemeClr val="tx1"/>
                          </a:solidFill>
                          <a:effectLst/>
                          <a:latin typeface="Times New Roman" panose="02020603050405020304" pitchFamily="18" charset="0"/>
                          <a:ea typeface="Times New Roman" panose="02020603050405020304" pitchFamily="18" charset="0"/>
                        </a:rPr>
                        <a:t>Conception de l’architecture distribuée et des communications inter-nœuds. Préparation de l’environnement avec l’installation d’</a:t>
                      </a:r>
                      <a:r>
                        <a:rPr lang="fr-CM" sz="1800" dirty="0" err="1">
                          <a:solidFill>
                            <a:schemeClr val="tx1"/>
                          </a:solidFill>
                          <a:effectLst/>
                          <a:latin typeface="Times New Roman" panose="02020603050405020304" pitchFamily="18" charset="0"/>
                          <a:ea typeface="Times New Roman" panose="02020603050405020304" pitchFamily="18" charset="0"/>
                        </a:rPr>
                        <a:t>OpenBSD</a:t>
                      </a:r>
                      <a:r>
                        <a:rPr lang="fr-CM" sz="1800" dirty="0">
                          <a:solidFill>
                            <a:schemeClr val="tx1"/>
                          </a:solidFill>
                          <a:effectLst/>
                          <a:latin typeface="Times New Roman" panose="02020603050405020304" pitchFamily="18" charset="0"/>
                          <a:ea typeface="Times New Roman" panose="02020603050405020304" pitchFamily="18" charset="0"/>
                        </a:rPr>
                        <a:t> sur le serveur et les agents, configuration du réseau et des permissions ; développement des agents de collecte capables de récupérer et transmettre les logs au serveur central.		</a:t>
                      </a:r>
                      <a:endParaRPr lang="fr-CM" dirty="0">
                        <a:solidFill>
                          <a:schemeClr val="tx1"/>
                        </a:solidFill>
                      </a:endParaRPr>
                    </a:p>
                  </a:txBody>
                  <a:tcPr/>
                </a:tc>
                <a:tc>
                  <a:txBody>
                    <a:bodyPr/>
                    <a:lstStyle/>
                    <a:p>
                      <a:endParaRPr lang="fr-CM">
                        <a:solidFill>
                          <a:schemeClr val="tx1"/>
                        </a:solidFill>
                      </a:endParaRPr>
                    </a:p>
                  </a:txBody>
                  <a:tcPr/>
                </a:tc>
                <a:extLst>
                  <a:ext uri="{0D108BD9-81ED-4DB2-BD59-A6C34878D82A}">
                    <a16:rowId xmlns:a16="http://schemas.microsoft.com/office/drawing/2014/main" val="3086154157"/>
                  </a:ext>
                </a:extLst>
              </a:tr>
              <a:tr h="1302447">
                <a:tc>
                  <a:txBody>
                    <a:bodyPr/>
                    <a:lstStyle/>
                    <a:p>
                      <a:r>
                        <a:rPr lang="fr-CM" sz="1800" b="1" dirty="0">
                          <a:solidFill>
                            <a:schemeClr val="tx1"/>
                          </a:solidFill>
                          <a:effectLst/>
                          <a:latin typeface="Times New Roman" panose="02020603050405020304" pitchFamily="18" charset="0"/>
                          <a:ea typeface="Calibri" panose="020F0502020204030204" pitchFamily="34" charset="0"/>
                        </a:rPr>
                        <a:t>05/01/2026 – 18/01/2026</a:t>
                      </a:r>
                      <a:endParaRPr lang="fr-CM" dirty="0">
                        <a:solidFill>
                          <a:schemeClr val="tx1"/>
                        </a:solidFill>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fr-CM" sz="1800" dirty="0">
                          <a:solidFill>
                            <a:schemeClr val="tx1"/>
                          </a:solidFill>
                          <a:effectLst/>
                          <a:latin typeface="Times New Roman" panose="02020603050405020304" pitchFamily="18" charset="0"/>
                          <a:ea typeface="Times New Roman" panose="02020603050405020304" pitchFamily="18" charset="0"/>
                        </a:rPr>
                        <a:t>Mise en place du Log </a:t>
                      </a:r>
                      <a:r>
                        <a:rPr lang="fr-CM" sz="1800" dirty="0" err="1">
                          <a:solidFill>
                            <a:schemeClr val="tx1"/>
                          </a:solidFill>
                          <a:effectLst/>
                          <a:latin typeface="Times New Roman" panose="02020603050405020304" pitchFamily="18" charset="0"/>
                          <a:ea typeface="Times New Roman" panose="02020603050405020304" pitchFamily="18" charset="0"/>
                        </a:rPr>
                        <a:t>Aggregator</a:t>
                      </a:r>
                      <a:r>
                        <a:rPr lang="fr-CM" sz="1800" dirty="0">
                          <a:solidFill>
                            <a:schemeClr val="tx1"/>
                          </a:solidFill>
                          <a:effectLst/>
                          <a:latin typeface="Times New Roman" panose="02020603050405020304" pitchFamily="18" charset="0"/>
                          <a:ea typeface="Times New Roman" panose="02020603050405020304" pitchFamily="18" charset="0"/>
                        </a:rPr>
                        <a:t> pour stocker et indexer les logs, implémentation des mécanismes de tolérance aux pannes, et création de l’interface Web pour consulter les logs par machine, par niveau de gravité et par période.		</a:t>
                      </a:r>
                    </a:p>
                    <a:p>
                      <a:pPr algn="just"/>
                      <a:endParaRPr lang="fr-CM" dirty="0">
                        <a:solidFill>
                          <a:schemeClr val="tx1"/>
                        </a:solidFill>
                      </a:endParaRPr>
                    </a:p>
                  </a:txBody>
                  <a:tcPr/>
                </a:tc>
                <a:tc>
                  <a:txBody>
                    <a:bodyPr/>
                    <a:lstStyle/>
                    <a:p>
                      <a:endParaRPr lang="fr-CM">
                        <a:solidFill>
                          <a:schemeClr val="tx1"/>
                        </a:solidFill>
                      </a:endParaRPr>
                    </a:p>
                  </a:txBody>
                  <a:tcPr/>
                </a:tc>
                <a:extLst>
                  <a:ext uri="{0D108BD9-81ED-4DB2-BD59-A6C34878D82A}">
                    <a16:rowId xmlns:a16="http://schemas.microsoft.com/office/drawing/2014/main" val="2433337245"/>
                  </a:ext>
                </a:extLst>
              </a:tr>
              <a:tr h="701317">
                <a:tc>
                  <a:txBody>
                    <a:bodyPr/>
                    <a:lstStyle/>
                    <a:p>
                      <a:r>
                        <a:rPr lang="fr-CM" sz="1800" b="1" dirty="0">
                          <a:solidFill>
                            <a:schemeClr val="tx1"/>
                          </a:solidFill>
                          <a:effectLst/>
                          <a:latin typeface="Times New Roman" panose="02020603050405020304" pitchFamily="18" charset="0"/>
                          <a:ea typeface="Calibri" panose="020F0502020204030204" pitchFamily="34" charset="0"/>
                        </a:rPr>
                        <a:t>19/01/2026 -25/01/2026</a:t>
                      </a:r>
                      <a:endParaRPr lang="fr-CM" dirty="0">
                        <a:solidFill>
                          <a:schemeClr val="tx1"/>
                        </a:solidFill>
                      </a:endParaRPr>
                    </a:p>
                  </a:txBody>
                  <a:tcPr/>
                </a:tc>
                <a:tc>
                  <a:txBody>
                    <a:bodyPr/>
                    <a:lstStyle/>
                    <a:p>
                      <a:pPr algn="just"/>
                      <a:r>
                        <a:rPr lang="fr-CM" sz="1800" dirty="0">
                          <a:solidFill>
                            <a:schemeClr val="tx1"/>
                          </a:solidFill>
                          <a:effectLst/>
                          <a:latin typeface="Times New Roman" panose="02020603050405020304" pitchFamily="18" charset="0"/>
                          <a:ea typeface="Times New Roman" panose="02020603050405020304" pitchFamily="18" charset="0"/>
                        </a:rPr>
                        <a:t>Tests complets du système, simulation de pannes, vérification de la retransmission, correction des anomalies et optimisation des performances</a:t>
                      </a:r>
                      <a:endParaRPr lang="fr-CM" dirty="0">
                        <a:solidFill>
                          <a:schemeClr val="tx1"/>
                        </a:solidFill>
                      </a:endParaRPr>
                    </a:p>
                  </a:txBody>
                  <a:tcPr/>
                </a:tc>
                <a:tc>
                  <a:txBody>
                    <a:bodyPr/>
                    <a:lstStyle/>
                    <a:p>
                      <a:endParaRPr lang="fr-CM">
                        <a:solidFill>
                          <a:schemeClr val="tx1"/>
                        </a:solidFill>
                      </a:endParaRPr>
                    </a:p>
                  </a:txBody>
                  <a:tcPr/>
                </a:tc>
                <a:extLst>
                  <a:ext uri="{0D108BD9-81ED-4DB2-BD59-A6C34878D82A}">
                    <a16:rowId xmlns:a16="http://schemas.microsoft.com/office/drawing/2014/main" val="2169586327"/>
                  </a:ext>
                </a:extLst>
              </a:tr>
              <a:tr h="701317">
                <a:tc>
                  <a:txBody>
                    <a:bodyPr/>
                    <a:lstStyle/>
                    <a:p>
                      <a:r>
                        <a:rPr lang="fr-CM" sz="1800" b="1" kern="1200" dirty="0">
                          <a:solidFill>
                            <a:schemeClr val="dk1"/>
                          </a:solidFill>
                          <a:effectLst/>
                          <a:latin typeface="Times New Roman" panose="02020603050405020304" pitchFamily="18" charset="0"/>
                          <a:ea typeface="+mn-ea"/>
                          <a:cs typeface="Times New Roman" panose="02020603050405020304" pitchFamily="18" charset="0"/>
                        </a:rPr>
                        <a:t>26/01/2026 - 01/02/2026</a:t>
                      </a:r>
                      <a:endParaRPr lang="fr-CM"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just"/>
                      <a:r>
                        <a:rPr lang="fr-CM" sz="1800" dirty="0">
                          <a:solidFill>
                            <a:schemeClr val="tx1"/>
                          </a:solidFill>
                          <a:effectLst/>
                          <a:latin typeface="Times New Roman" panose="02020603050405020304" pitchFamily="18" charset="0"/>
                          <a:ea typeface="Times New Roman" panose="02020603050405020304" pitchFamily="18" charset="0"/>
                        </a:rPr>
                        <a:t>Rédaction du rapport final, préparation de la présentation et revue complète du projet avec l’équipe pour garantir l’atteinte de tous les objectifs</a:t>
                      </a:r>
                      <a:endParaRPr lang="fr-CM" dirty="0">
                        <a:solidFill>
                          <a:schemeClr val="tx1"/>
                        </a:solidFill>
                      </a:endParaRPr>
                    </a:p>
                  </a:txBody>
                  <a:tcPr/>
                </a:tc>
                <a:tc>
                  <a:txBody>
                    <a:bodyPr/>
                    <a:lstStyle/>
                    <a:p>
                      <a:endParaRPr lang="fr-CM" dirty="0">
                        <a:solidFill>
                          <a:schemeClr val="tx1"/>
                        </a:solidFill>
                      </a:endParaRPr>
                    </a:p>
                  </a:txBody>
                  <a:tcPr/>
                </a:tc>
                <a:extLst>
                  <a:ext uri="{0D108BD9-81ED-4DB2-BD59-A6C34878D82A}">
                    <a16:rowId xmlns:a16="http://schemas.microsoft.com/office/drawing/2014/main" val="1470245157"/>
                  </a:ext>
                </a:extLst>
              </a:tr>
            </a:tbl>
          </a:graphicData>
        </a:graphic>
      </p:graphicFrame>
      <p:sp>
        <p:nvSpPr>
          <p:cNvPr id="7" name="TextBox 6">
            <a:extLst>
              <a:ext uri="{FF2B5EF4-FFF2-40B4-BE49-F238E27FC236}">
                <a16:creationId xmlns:a16="http://schemas.microsoft.com/office/drawing/2014/main" id="{CE926B12-B891-E701-BAC7-46166D49792D}"/>
              </a:ext>
            </a:extLst>
          </p:cNvPr>
          <p:cNvSpPr txBox="1"/>
          <p:nvPr/>
        </p:nvSpPr>
        <p:spPr>
          <a:xfrm>
            <a:off x="678765" y="923789"/>
            <a:ext cx="9801666" cy="461665"/>
          </a:xfrm>
          <a:prstGeom prst="rect">
            <a:avLst/>
          </a:prstGeom>
          <a:noFill/>
        </p:spPr>
        <p:txBody>
          <a:bodyPr wrap="square">
            <a:spAutoFit/>
          </a:bodyPr>
          <a:lstStyle/>
          <a:p>
            <a:pPr algn="just">
              <a:buNone/>
            </a:pPr>
            <a:r>
              <a:rPr lang="fr-CM" sz="2400" dirty="0">
                <a:solidFill>
                  <a:schemeClr val="bg1"/>
                </a:solidFill>
                <a:effectLst/>
                <a:latin typeface="Times New Roman" panose="02020603050405020304" pitchFamily="18" charset="0"/>
                <a:ea typeface="Times New Roman" panose="02020603050405020304" pitchFamily="18" charset="0"/>
              </a:rPr>
              <a:t>Le projet sera réalisé sur huit semaines, en suivant une progression logique :</a:t>
            </a:r>
          </a:p>
        </p:txBody>
      </p:sp>
    </p:spTree>
    <p:extLst>
      <p:ext uri="{BB962C8B-B14F-4D97-AF65-F5344CB8AC3E}">
        <p14:creationId xmlns:p14="http://schemas.microsoft.com/office/powerpoint/2010/main" val="686162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F3A947F3-76A1-1C70-45B4-8F8026B2088D}"/>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0DC17E5E-CB87-9E14-0AF2-790061CC5C9F}"/>
              </a:ext>
            </a:extLst>
          </p:cNvPr>
          <p:cNvSpPr txBox="1"/>
          <p:nvPr/>
        </p:nvSpPr>
        <p:spPr>
          <a:xfrm>
            <a:off x="720968" y="476804"/>
            <a:ext cx="7058465" cy="583750"/>
          </a:xfrm>
          <a:prstGeom prst="rect">
            <a:avLst/>
          </a:prstGeom>
          <a:noFill/>
        </p:spPr>
        <p:txBody>
          <a:bodyPr wrap="square">
            <a:spAutoFit/>
          </a:bodyPr>
          <a:lstStyle/>
          <a:p>
            <a:pPr lvl="0" algn="just">
              <a:lnSpc>
                <a:spcPct val="107000"/>
              </a:lnSpc>
              <a:spcBef>
                <a:spcPts val="1200"/>
              </a:spcBef>
            </a:pPr>
            <a:r>
              <a:rPr lang="fr-CM" sz="3200" b="1" kern="1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VI.  LIVRABLES</a:t>
            </a:r>
          </a:p>
        </p:txBody>
      </p:sp>
      <p:sp>
        <p:nvSpPr>
          <p:cNvPr id="6" name="TextBox 5">
            <a:extLst>
              <a:ext uri="{FF2B5EF4-FFF2-40B4-BE49-F238E27FC236}">
                <a16:creationId xmlns:a16="http://schemas.microsoft.com/office/drawing/2014/main" id="{32F3468B-A7EA-4508-F444-2F504C22DA39}"/>
              </a:ext>
            </a:extLst>
          </p:cNvPr>
          <p:cNvSpPr txBox="1"/>
          <p:nvPr/>
        </p:nvSpPr>
        <p:spPr>
          <a:xfrm>
            <a:off x="492368" y="1433674"/>
            <a:ext cx="11226019" cy="4774064"/>
          </a:xfrm>
          <a:prstGeom prst="rect">
            <a:avLst/>
          </a:prstGeom>
          <a:noFill/>
        </p:spPr>
        <p:txBody>
          <a:bodyPr wrap="square">
            <a:spAutoFit/>
          </a:bodyPr>
          <a:lstStyle/>
          <a:p>
            <a:pPr algn="just">
              <a:lnSpc>
                <a:spcPct val="107000"/>
              </a:lnSpc>
              <a:spcAft>
                <a:spcPts val="800"/>
              </a:spcAft>
              <a:buNone/>
            </a:pPr>
            <a:r>
              <a:rPr lang="fr-CM" sz="2800" kern="100"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Les livrables finaux attendus pour ce projet sont :</a:t>
            </a:r>
          </a:p>
          <a:p>
            <a:pPr marL="342900" lvl="0" indent="-342900" algn="just">
              <a:lnSpc>
                <a:spcPct val="107000"/>
              </a:lnSpc>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Cahier des charges  		</a:t>
            </a:r>
          </a:p>
          <a:p>
            <a:pPr marL="342900" lvl="0" indent="-342900" algn="just">
              <a:lnSpc>
                <a:spcPct val="107000"/>
              </a:lnSpc>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Dossier d’analyse détaillé (diagrammes use cases, contraintes fonctionnelles approfondies). </a:t>
            </a:r>
          </a:p>
          <a:p>
            <a:pPr marL="342900" lvl="0" indent="-342900" algn="just">
              <a:lnSpc>
                <a:spcPct val="107000"/>
              </a:lnSpc>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Dossier de conception (UML, architecture logicielle, schémas des API). </a:t>
            </a:r>
          </a:p>
          <a:p>
            <a:pPr marL="342900" lvl="0" indent="-342900" algn="just">
              <a:lnSpc>
                <a:spcPct val="107000"/>
              </a:lnSpc>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 Dossier de réalisation (code source backend + frontend, instructions de compilation, captures d’écran, tests).</a:t>
            </a:r>
          </a:p>
          <a:p>
            <a:pPr marL="342900" lvl="0" indent="-342900" algn="just">
              <a:lnSpc>
                <a:spcPct val="107000"/>
              </a:lnSpc>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Dossier de déploiement.</a:t>
            </a:r>
          </a:p>
          <a:p>
            <a:pPr marL="342900" lvl="0" indent="-342900" algn="just">
              <a:lnSpc>
                <a:spcPct val="107000"/>
              </a:lnSpc>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Rapport de projet complet </a:t>
            </a:r>
          </a:p>
          <a:p>
            <a:pPr marL="342900" lvl="0" indent="-342900" algn="just">
              <a:lnSpc>
                <a:spcPct val="107000"/>
              </a:lnSpc>
              <a:spcAft>
                <a:spcPts val="800"/>
              </a:spcAft>
              <a:buFont typeface="Times New Roman" panose="02020603050405020304" pitchFamily="18" charset="0"/>
              <a:buChar char="-"/>
            </a:pPr>
            <a:r>
              <a:rPr lang="fr-CM" sz="2800" kern="100" dirty="0">
                <a:solidFill>
                  <a:schemeClr val="bg1"/>
                </a:solidFill>
                <a:effectLst/>
                <a:latin typeface="Times New Roman" panose="02020603050405020304" pitchFamily="18" charset="0"/>
                <a:ea typeface="Times New Roman" panose="02020603050405020304" pitchFamily="18" charset="0"/>
                <a:cs typeface="Calibri" panose="020F0502020204030204" pitchFamily="34" charset="0"/>
              </a:rPr>
              <a:t> Présentation PowerPoint</a:t>
            </a:r>
          </a:p>
        </p:txBody>
      </p:sp>
    </p:spTree>
    <p:extLst>
      <p:ext uri="{BB962C8B-B14F-4D97-AF65-F5344CB8AC3E}">
        <p14:creationId xmlns:p14="http://schemas.microsoft.com/office/powerpoint/2010/main" val="2959717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computer screen shot of a computer">
            <a:extLst>
              <a:ext uri="{FF2B5EF4-FFF2-40B4-BE49-F238E27FC236}">
                <a16:creationId xmlns:a16="http://schemas.microsoft.com/office/drawing/2014/main" id="{C06FDBE3-B3B4-AB86-FE63-836571E97463}"/>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985FFE33-7E04-D7D7-E619-A8EE45A8F149}"/>
              </a:ext>
            </a:extLst>
          </p:cNvPr>
          <p:cNvSpPr/>
          <p:nvPr/>
        </p:nvSpPr>
        <p:spPr>
          <a:xfrm>
            <a:off x="1471118" y="2967335"/>
            <a:ext cx="9249776" cy="923330"/>
          </a:xfrm>
          <a:prstGeom prst="rect">
            <a:avLst/>
          </a:prstGeom>
          <a:noFill/>
        </p:spPr>
        <p:txBody>
          <a:bodyPr wrap="none" lIns="91440" tIns="45720" rIns="91440" bIns="45720">
            <a:spAutoFit/>
          </a:bodyPr>
          <a:lstStyle/>
          <a:p>
            <a:pPr algn="ctr"/>
            <a:r>
              <a:rPr lang="en-US" sz="5400" b="0" cap="none" spc="0" dirty="0">
                <a:ln w="0"/>
                <a:solidFill>
                  <a:schemeClr val="bg1"/>
                </a:solidFill>
                <a:effectLst>
                  <a:outerShdw blurRad="38100" dist="25400" dir="5400000" algn="ctr" rotWithShape="0">
                    <a:srgbClr val="6E747A">
                      <a:alpha val="43000"/>
                    </a:srgbClr>
                  </a:outerShdw>
                </a:effectLst>
              </a:rPr>
              <a:t>MERCI POUR VOTRE ATTENTION</a:t>
            </a:r>
          </a:p>
        </p:txBody>
      </p:sp>
    </p:spTree>
    <p:extLst>
      <p:ext uri="{BB962C8B-B14F-4D97-AF65-F5344CB8AC3E}">
        <p14:creationId xmlns:p14="http://schemas.microsoft.com/office/powerpoint/2010/main" val="2029785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omputer screen shot of a computer">
            <a:extLst>
              <a:ext uri="{FF2B5EF4-FFF2-40B4-BE49-F238E27FC236}">
                <a16:creationId xmlns:a16="http://schemas.microsoft.com/office/drawing/2014/main" id="{2222C0DA-9B99-8B01-F84A-0CD4D722D38A}"/>
              </a:ext>
            </a:extLst>
          </p:cNvPr>
          <p:cNvPicPr>
            <a:picLocks noChangeAspect="1"/>
          </p:cNvPicPr>
          <p:nvPr/>
        </p:nvPicPr>
        <p:blipFill>
          <a:blip r:embed="rId2"/>
          <a:stretch>
            <a:fillRect/>
          </a:stretch>
        </p:blipFill>
        <p:spPr>
          <a:xfrm>
            <a:off x="0" y="0"/>
            <a:ext cx="12192000" cy="6919139"/>
          </a:xfrm>
          <a:prstGeom prst="rect">
            <a:avLst/>
          </a:prstGeom>
        </p:spPr>
      </p:pic>
      <p:sp>
        <p:nvSpPr>
          <p:cNvPr id="6" name="TextBox 5">
            <a:extLst>
              <a:ext uri="{FF2B5EF4-FFF2-40B4-BE49-F238E27FC236}">
                <a16:creationId xmlns:a16="http://schemas.microsoft.com/office/drawing/2014/main" id="{4FC3618D-87DB-CC54-D3E5-2E7F64411472}"/>
              </a:ext>
            </a:extLst>
          </p:cNvPr>
          <p:cNvSpPr txBox="1"/>
          <p:nvPr/>
        </p:nvSpPr>
        <p:spPr>
          <a:xfrm>
            <a:off x="337626" y="534571"/>
            <a:ext cx="4262511" cy="400110"/>
          </a:xfrm>
          <a:prstGeom prst="rect">
            <a:avLst/>
          </a:prstGeom>
          <a:noFill/>
        </p:spPr>
        <p:txBody>
          <a:bodyPr wrap="square" rtlCol="0">
            <a:spAutoFit/>
          </a:bodyPr>
          <a:lstStyle/>
          <a:p>
            <a:r>
              <a:rPr lang="fr-FR" sz="2000" b="1" dirty="0">
                <a:solidFill>
                  <a:schemeClr val="bg1"/>
                </a:solidFill>
              </a:rPr>
              <a:t>1. Besoins fonctionnels</a:t>
            </a:r>
            <a:endParaRPr lang="fr-CM" sz="2000" b="1" dirty="0">
              <a:solidFill>
                <a:schemeClr val="bg1"/>
              </a:solidFill>
            </a:endParaRPr>
          </a:p>
        </p:txBody>
      </p:sp>
      <p:sp>
        <p:nvSpPr>
          <p:cNvPr id="7" name="Rectangle 6">
            <a:extLst>
              <a:ext uri="{FF2B5EF4-FFF2-40B4-BE49-F238E27FC236}">
                <a16:creationId xmlns:a16="http://schemas.microsoft.com/office/drawing/2014/main" id="{E94A134E-DDFF-D9CD-A46C-10C9A99B52FC}"/>
              </a:ext>
            </a:extLst>
          </p:cNvPr>
          <p:cNvSpPr/>
          <p:nvPr/>
        </p:nvSpPr>
        <p:spPr>
          <a:xfrm>
            <a:off x="4937763" y="-56272"/>
            <a:ext cx="2757934" cy="707886"/>
          </a:xfrm>
          <a:prstGeom prst="rect">
            <a:avLst/>
          </a:prstGeom>
          <a:noFill/>
        </p:spPr>
        <p:txBody>
          <a:bodyPr wrap="none" lIns="91440" tIns="45720" rIns="91440" bIns="45720">
            <a:spAutoFit/>
          </a:bodyPr>
          <a:lstStyle/>
          <a:p>
            <a:pPr algn="ctr"/>
            <a:r>
              <a:rPr lang="en-US" sz="4000" dirty="0" err="1">
                <a:ln w="0"/>
                <a:solidFill>
                  <a:schemeClr val="bg1"/>
                </a:solidFill>
                <a:effectLst>
                  <a:outerShdw blurRad="38100" dist="19050" dir="2700000" algn="tl" rotWithShape="0">
                    <a:schemeClr val="dk1">
                      <a:alpha val="40000"/>
                    </a:schemeClr>
                  </a:outerShdw>
                </a:effectLst>
              </a:rPr>
              <a:t>f</a:t>
            </a:r>
            <a:r>
              <a:rPr lang="en-US" sz="4000" b="0" cap="none" spc="0" dirty="0" err="1">
                <a:ln w="0"/>
                <a:solidFill>
                  <a:schemeClr val="bg1"/>
                </a:solidFill>
                <a:effectLst>
                  <a:outerShdw blurRad="38100" dist="19050" dir="2700000" algn="tl" rotWithShape="0">
                    <a:schemeClr val="dk1">
                      <a:alpha val="40000"/>
                    </a:schemeClr>
                  </a:outerShdw>
                </a:effectLst>
              </a:rPr>
              <a:t>onctionnels</a:t>
            </a:r>
            <a:endParaRPr lang="en-US" sz="40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235374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1079</Words>
  <Application>Microsoft Office PowerPoint</Application>
  <PresentationFormat>Grand écran</PresentationFormat>
  <Paragraphs>120</Paragraphs>
  <Slides>13</Slides>
  <Notes>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13</vt:i4>
      </vt:variant>
    </vt:vector>
  </HeadingPairs>
  <TitlesOfParts>
    <vt:vector size="18" baseType="lpstr">
      <vt:lpstr>Arial</vt:lpstr>
      <vt:lpstr>Calibri</vt:lpstr>
      <vt:lpstr>Calibri Light</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Yvan Raphaël MONGUE YOSSI</dc:creator>
  <cp:lastModifiedBy>Emilie Nana Ndieupe</cp:lastModifiedBy>
  <cp:revision>5</cp:revision>
  <dcterms:created xsi:type="dcterms:W3CDTF">2025-12-13T10:44:17Z</dcterms:created>
  <dcterms:modified xsi:type="dcterms:W3CDTF">2026-01-23T22:58:23Z</dcterms:modified>
</cp:coreProperties>
</file>
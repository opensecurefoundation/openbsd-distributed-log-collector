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6" r:id="rId3"/>
    <p:sldId id="265" r:id="rId4"/>
    <p:sldId id="267" r:id="rId5"/>
    <p:sldId id="268" r:id="rId6"/>
    <p:sldId id="269" r:id="rId7"/>
    <p:sldId id="270" r:id="rId8"/>
    <p:sldId id="258" r:id="rId9"/>
    <p:sldId id="271" r:id="rId10"/>
    <p:sldId id="259" r:id="rId11"/>
    <p:sldId id="26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C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A452D62B-1889-40BE-8CC9-9E6AA68ED66B}" type="datetimeFigureOut">
              <a:rPr lang="fr-FR" smtClean="0"/>
              <a:t>24/01/2026</a:t>
            </a:fld>
            <a:endParaRPr lang="fr-FR"/>
          </a:p>
        </p:txBody>
      </p:sp>
      <p:sp>
        <p:nvSpPr>
          <p:cNvPr id="5" name="Footer Placeholder 4"/>
          <p:cNvSpPr>
            <a:spLocks noGrp="1"/>
          </p:cNvSpPr>
          <p:nvPr>
            <p:ph type="ftr" sz="quarter" idx="11"/>
          </p:nvPr>
        </p:nvSpPr>
        <p:spPr/>
        <p:txBody>
          <a:bodyPr/>
          <a:lstStyle/>
          <a:p>
            <a:endParaRPr lang="fr-F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296707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452D62B-1889-40BE-8CC9-9E6AA68ED66B}" type="datetimeFigureOut">
              <a:rPr lang="fr-FR" smtClean="0"/>
              <a:t>24/01/2026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2998333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452D62B-1889-40BE-8CC9-9E6AA68ED66B}" type="datetimeFigureOut">
              <a:rPr lang="fr-FR" smtClean="0"/>
              <a:t>24/01/2026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3039614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452D62B-1889-40BE-8CC9-9E6AA68ED66B}" type="datetimeFigureOut">
              <a:rPr lang="fr-FR" smtClean="0"/>
              <a:t>24/01/2026</a:t>
            </a:fld>
            <a:endParaRPr lang="fr-FR"/>
          </a:p>
        </p:txBody>
      </p:sp>
      <p:sp>
        <p:nvSpPr>
          <p:cNvPr id="6" name="Footer Placeholder 5"/>
          <p:cNvSpPr>
            <a:spLocks noGrp="1"/>
          </p:cNvSpPr>
          <p:nvPr>
            <p:ph type="ftr" sz="quarter" idx="11"/>
          </p:nvPr>
        </p:nvSpPr>
        <p:spPr/>
        <p:txBody>
          <a:bodyPr/>
          <a:lstStyle/>
          <a:p>
            <a:endParaRPr lang="fr-F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2856122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A452D62B-1889-40BE-8CC9-9E6AA68ED66B}" type="datetimeFigureOut">
              <a:rPr lang="fr-FR" smtClean="0"/>
              <a:t>24/01/2026</a:t>
            </a:fld>
            <a:endParaRPr lang="fr-FR"/>
          </a:p>
        </p:txBody>
      </p:sp>
      <p:sp>
        <p:nvSpPr>
          <p:cNvPr id="8" name="Footer Placeholder 7"/>
          <p:cNvSpPr>
            <a:spLocks noGrp="1"/>
          </p:cNvSpPr>
          <p:nvPr>
            <p:ph type="ftr" sz="quarter" idx="11"/>
          </p:nvPr>
        </p:nvSpPr>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3000794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A452D62B-1889-40BE-8CC9-9E6AA68ED66B}" type="datetimeFigureOut">
              <a:rPr lang="fr-FR" smtClean="0"/>
              <a:t>24/01/2026</a:t>
            </a:fld>
            <a:endParaRPr lang="fr-FR"/>
          </a:p>
        </p:txBody>
      </p:sp>
      <p:sp>
        <p:nvSpPr>
          <p:cNvPr id="4" name="Footer Placeholder 3"/>
          <p:cNvSpPr>
            <a:spLocks noGrp="1"/>
          </p:cNvSpPr>
          <p:nvPr>
            <p:ph type="ftr" sz="quarter" idx="11"/>
          </p:nvPr>
        </p:nvSpPr>
        <p:spPr/>
        <p:txBody>
          <a:bodyPr/>
          <a:lstStyle/>
          <a:p>
            <a:endParaRPr lang="fr-F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296321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52D62B-1889-40BE-8CC9-9E6AA68ED66B}" type="datetimeFigureOut">
              <a:rPr lang="fr-FR" smtClean="0"/>
              <a:t>24/01/2026</a:t>
            </a:fld>
            <a:endParaRPr lang="fr-FR"/>
          </a:p>
        </p:txBody>
      </p:sp>
      <p:sp>
        <p:nvSpPr>
          <p:cNvPr id="3" name="Footer Placeholder 2"/>
          <p:cNvSpPr>
            <a:spLocks noGrp="1"/>
          </p:cNvSpPr>
          <p:nvPr>
            <p:ph type="ftr" sz="quarter" idx="11"/>
          </p:nvPr>
        </p:nvSpPr>
        <p:spPr/>
        <p:txBody>
          <a:bodyPr/>
          <a:lstStyle/>
          <a:p>
            <a:endParaRPr lang="fr-F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4273704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A452D62B-1889-40BE-8CC9-9E6AA68ED66B}" type="datetimeFigureOut">
              <a:rPr lang="fr-FR" smtClean="0"/>
              <a:t>24/01/2026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4192985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A452D62B-1889-40BE-8CC9-9E6AA68ED66B}" type="datetimeFigureOut">
              <a:rPr lang="fr-FR" smtClean="0"/>
              <a:t>24/01/2026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1446810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452D62B-1889-40BE-8CC9-9E6AA68ED66B}" type="datetimeFigureOut">
              <a:rPr lang="fr-FR" smtClean="0"/>
              <a:t>24/01/2026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1638088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452D62B-1889-40BE-8CC9-9E6AA68ED66B}" type="datetimeFigureOut">
              <a:rPr lang="fr-FR" smtClean="0"/>
              <a:t>24/01/2026</a:t>
            </a:fld>
            <a:endParaRPr lang="fr-FR"/>
          </a:p>
        </p:txBody>
      </p:sp>
      <p:sp>
        <p:nvSpPr>
          <p:cNvPr id="5" name="Footer Placeholder 4"/>
          <p:cNvSpPr>
            <a:spLocks noGrp="1"/>
          </p:cNvSpPr>
          <p:nvPr>
            <p:ph type="ftr" sz="quarter" idx="11"/>
          </p:nvPr>
        </p:nvSpPr>
        <p:spPr/>
        <p:txBody>
          <a:bodyPr/>
          <a:lstStyle/>
          <a:p>
            <a:endParaRPr lang="fr-F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882E42F-6BA4-481D-9EEC-EF2C8950C5B9}" type="slidenum">
              <a:rPr lang="fr-FR" smtClean="0"/>
              <a:t>‹N°›</a:t>
            </a:fld>
            <a:endParaRPr lang="fr-F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54233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A452D62B-1889-40BE-8CC9-9E6AA68ED66B}" type="datetimeFigureOut">
              <a:rPr lang="fr-FR" smtClean="0"/>
              <a:t>24/01/2026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2085020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A452D62B-1889-40BE-8CC9-9E6AA68ED66B}" type="datetimeFigureOut">
              <a:rPr lang="fr-FR" smtClean="0"/>
              <a:t>24/01/2026</a:t>
            </a:fld>
            <a:endParaRPr lang="fr-FR"/>
          </a:p>
        </p:txBody>
      </p:sp>
      <p:sp>
        <p:nvSpPr>
          <p:cNvPr id="6" name="Footer Placeholder 5"/>
          <p:cNvSpPr>
            <a:spLocks noGrp="1"/>
          </p:cNvSpPr>
          <p:nvPr>
            <p:ph type="ftr" sz="quarter" idx="11"/>
          </p:nvPr>
        </p:nvSpPr>
        <p:spPr/>
        <p:txBody>
          <a:bodyPr/>
          <a:lstStyle/>
          <a:p>
            <a:endParaRPr lang="fr-F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82E42F-6BA4-481D-9EEC-EF2C8950C5B9}" type="slidenum">
              <a:rPr lang="fr-FR" smtClean="0"/>
              <a:t>‹N°›</a:t>
            </a:fld>
            <a:endParaRPr lang="fr-F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89431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A452D62B-1889-40BE-8CC9-9E6AA68ED66B}" type="datetimeFigureOut">
              <a:rPr lang="fr-FR" smtClean="0"/>
              <a:t>24/01/2026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2561693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452D62B-1889-40BE-8CC9-9E6AA68ED66B}" type="datetimeFigureOut">
              <a:rPr lang="fr-FR" smtClean="0"/>
              <a:t>24/01/2026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34701710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452D62B-1889-40BE-8CC9-9E6AA68ED66B}" type="datetimeFigureOut">
              <a:rPr lang="fr-FR" smtClean="0"/>
              <a:t>24/01/2026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882E42F-6BA4-481D-9EEC-EF2C8950C5B9}" type="slidenum">
              <a:rPr lang="fr-FR" smtClean="0"/>
              <a:t>‹N°›</a:t>
            </a:fld>
            <a:endParaRPr lang="fr-FR"/>
          </a:p>
        </p:txBody>
      </p:sp>
    </p:spTree>
    <p:extLst>
      <p:ext uri="{BB962C8B-B14F-4D97-AF65-F5344CB8AC3E}">
        <p14:creationId xmlns:p14="http://schemas.microsoft.com/office/powerpoint/2010/main" val="1607043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452D62B-1889-40BE-8CC9-9E6AA68ED66B}" type="datetimeFigureOut">
              <a:rPr lang="fr-FR" smtClean="0"/>
              <a:t>24/01/2026</a:t>
            </a:fld>
            <a:endParaRPr lang="fr-F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882E42F-6BA4-481D-9EEC-EF2C8950C5B9}" type="slidenum">
              <a:rPr lang="fr-FR" smtClean="0"/>
              <a:t>‹N°›</a:t>
            </a:fld>
            <a:endParaRPr lang="fr-FR"/>
          </a:p>
        </p:txBody>
      </p:sp>
    </p:spTree>
    <p:extLst>
      <p:ext uri="{BB962C8B-B14F-4D97-AF65-F5344CB8AC3E}">
        <p14:creationId xmlns:p14="http://schemas.microsoft.com/office/powerpoint/2010/main" val="32704506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4CC7C2-EF8E-4A30-91A1-776D0AE66D77}"/>
              </a:ext>
            </a:extLst>
          </p:cNvPr>
          <p:cNvPicPr/>
          <p:nvPr/>
        </p:nvPicPr>
        <p:blipFill>
          <a:blip r:embed="rId2"/>
          <a:stretch>
            <a:fillRect/>
          </a:stretch>
        </p:blipFill>
        <p:spPr>
          <a:xfrm>
            <a:off x="3679871" y="535598"/>
            <a:ext cx="4832257" cy="1392701"/>
          </a:xfrm>
          <a:prstGeom prst="rect">
            <a:avLst/>
          </a:prstGeom>
        </p:spPr>
      </p:pic>
      <p:sp>
        <p:nvSpPr>
          <p:cNvPr id="5" name="Google Shape;85;p13">
            <a:extLst>
              <a:ext uri="{FF2B5EF4-FFF2-40B4-BE49-F238E27FC236}">
                <a16:creationId xmlns:a16="http://schemas.microsoft.com/office/drawing/2014/main" id="{B650D637-4AA4-437C-B48E-92D84308E9E1}"/>
              </a:ext>
            </a:extLst>
          </p:cNvPr>
          <p:cNvSpPr txBox="1"/>
          <p:nvPr/>
        </p:nvSpPr>
        <p:spPr>
          <a:xfrm>
            <a:off x="295274" y="1928299"/>
            <a:ext cx="11601450" cy="116955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i="0" u="none" strike="noStrike" cap="none" dirty="0">
                <a:solidFill>
                  <a:schemeClr val="tx1">
                    <a:lumMod val="65000"/>
                    <a:lumOff val="35000"/>
                  </a:schemeClr>
                </a:solidFill>
                <a:latin typeface="Urbanist Medium"/>
                <a:ea typeface="Urbanist Medium"/>
                <a:cs typeface="Urbanist Medium"/>
                <a:sym typeface="Urbanist Medium"/>
              </a:rPr>
              <a:t>DISTRIBUTED LOG COLLECTOR</a:t>
            </a:r>
          </a:p>
          <a:p>
            <a:pPr marL="0" marR="0" lvl="0" indent="0" algn="ctr" rtl="0">
              <a:spcBef>
                <a:spcPts val="0"/>
              </a:spcBef>
              <a:spcAft>
                <a:spcPts val="0"/>
              </a:spcAft>
              <a:buNone/>
            </a:pPr>
            <a:r>
              <a:rPr lang="en-US" sz="3600" b="1" dirty="0">
                <a:solidFill>
                  <a:schemeClr val="tx1">
                    <a:lumMod val="65000"/>
                    <a:lumOff val="35000"/>
                  </a:schemeClr>
                </a:solidFill>
                <a:latin typeface="Urbanist Medium"/>
                <a:ea typeface="Urbanist Medium"/>
                <a:cs typeface="Urbanist Medium"/>
                <a:sym typeface="Urbanist Medium"/>
              </a:rPr>
              <a:t>Cas OpenBSD</a:t>
            </a:r>
            <a:endParaRPr lang="en-US" sz="1050" b="1" dirty="0">
              <a:solidFill>
                <a:schemeClr val="tx1">
                  <a:lumMod val="65000"/>
                  <a:lumOff val="35000"/>
                </a:schemeClr>
              </a:solidFill>
            </a:endParaRPr>
          </a:p>
        </p:txBody>
      </p:sp>
      <p:sp>
        <p:nvSpPr>
          <p:cNvPr id="6" name="Google Shape;86;p13">
            <a:extLst>
              <a:ext uri="{FF2B5EF4-FFF2-40B4-BE49-F238E27FC236}">
                <a16:creationId xmlns:a16="http://schemas.microsoft.com/office/drawing/2014/main" id="{43312A2E-ADE3-494F-808F-14BA69045440}"/>
              </a:ext>
            </a:extLst>
          </p:cNvPr>
          <p:cNvSpPr txBox="1"/>
          <p:nvPr/>
        </p:nvSpPr>
        <p:spPr>
          <a:xfrm>
            <a:off x="533717" y="4281001"/>
            <a:ext cx="11124565" cy="1497076"/>
          </a:xfrm>
          <a:prstGeom prst="rect">
            <a:avLst/>
          </a:prstGeom>
          <a:noFill/>
          <a:ln>
            <a:noFill/>
          </a:ln>
        </p:spPr>
        <p:txBody>
          <a:bodyPr spcFirstLastPara="1" wrap="square" lIns="0" tIns="0" rIns="0" bIns="0" anchor="t" anchorCtr="0">
            <a:spAutoFit/>
          </a:bodyPr>
          <a:lstStyle/>
          <a:p>
            <a:pPr marL="0" marR="0" lvl="0" indent="0" algn="ctr" rtl="0">
              <a:lnSpc>
                <a:spcPct val="128333"/>
              </a:lnSpc>
              <a:spcBef>
                <a:spcPts val="0"/>
              </a:spcBef>
              <a:spcAft>
                <a:spcPts val="0"/>
              </a:spcAft>
              <a:buNone/>
            </a:pPr>
            <a:r>
              <a:rPr lang="en-US" sz="2400" b="1" i="0" u="none" strike="noStrike" cap="none" dirty="0">
                <a:solidFill>
                  <a:schemeClr val="accent1">
                    <a:lumMod val="75000"/>
                  </a:schemeClr>
                </a:solidFill>
                <a:latin typeface="Urbanist"/>
                <a:ea typeface="Urbanist"/>
                <a:cs typeface="Urbanist"/>
                <a:sym typeface="Urbanist"/>
              </a:rPr>
              <a:t>Master 1 SSI</a:t>
            </a:r>
          </a:p>
          <a:p>
            <a:pPr marL="0" marR="0" lvl="0" indent="0" algn="ctr" rtl="0">
              <a:lnSpc>
                <a:spcPct val="128333"/>
              </a:lnSpc>
              <a:spcBef>
                <a:spcPts val="0"/>
              </a:spcBef>
              <a:spcAft>
                <a:spcPts val="0"/>
              </a:spcAft>
              <a:buNone/>
            </a:pPr>
            <a:r>
              <a:rPr lang="en-US" sz="2800" b="1" i="0" u="none" strike="noStrike" cap="none" dirty="0">
                <a:solidFill>
                  <a:schemeClr val="accent1">
                    <a:lumMod val="75000"/>
                  </a:schemeClr>
                </a:solidFill>
                <a:latin typeface="Urbanist"/>
                <a:ea typeface="Urbanist"/>
                <a:cs typeface="Urbanist"/>
                <a:sym typeface="Urbanist"/>
              </a:rPr>
              <a:t>Cahier de conception</a:t>
            </a:r>
            <a:endParaRPr lang="en-US" sz="2400" b="1" dirty="0">
              <a:solidFill>
                <a:schemeClr val="accent1">
                  <a:lumMod val="75000"/>
                </a:schemeClr>
              </a:solidFill>
              <a:latin typeface="Urbanist"/>
              <a:ea typeface="Urbanist"/>
              <a:cs typeface="Urbanist"/>
              <a:sym typeface="Urbanist"/>
            </a:endParaRPr>
          </a:p>
          <a:p>
            <a:pPr marL="0" marR="0" lvl="0" indent="0" algn="ctr" rtl="0">
              <a:lnSpc>
                <a:spcPct val="128333"/>
              </a:lnSpc>
              <a:spcBef>
                <a:spcPts val="0"/>
              </a:spcBef>
              <a:spcAft>
                <a:spcPts val="0"/>
              </a:spcAft>
              <a:buNone/>
            </a:pPr>
            <a:r>
              <a:rPr lang="en-US" sz="2400" b="1" i="0" u="none" strike="noStrike" cap="none" dirty="0">
                <a:solidFill>
                  <a:schemeClr val="accent1">
                    <a:lumMod val="75000"/>
                  </a:schemeClr>
                </a:solidFill>
                <a:latin typeface="Urbanist"/>
                <a:ea typeface="Urbanist"/>
                <a:cs typeface="Urbanist"/>
                <a:sym typeface="Urbanist"/>
              </a:rPr>
              <a:t> </a:t>
            </a:r>
            <a:r>
              <a:rPr lang="en-US" sz="2400" b="1" i="0" u="none" strike="noStrike" cap="none" dirty="0" err="1">
                <a:solidFill>
                  <a:schemeClr val="accent1">
                    <a:lumMod val="75000"/>
                  </a:schemeClr>
                </a:solidFill>
                <a:latin typeface="Urbanist"/>
                <a:ea typeface="Urbanist"/>
                <a:cs typeface="Urbanist"/>
                <a:sym typeface="Urbanist"/>
              </a:rPr>
              <a:t>Présentés</a:t>
            </a:r>
            <a:r>
              <a:rPr lang="en-US" sz="2400" b="1" i="0" u="none" strike="noStrike" cap="none" dirty="0">
                <a:solidFill>
                  <a:schemeClr val="accent1">
                    <a:lumMod val="75000"/>
                  </a:schemeClr>
                </a:solidFill>
                <a:latin typeface="Urbanist"/>
                <a:ea typeface="Urbanist"/>
                <a:cs typeface="Urbanist"/>
                <a:sym typeface="Urbanist"/>
              </a:rPr>
              <a:t> par: NANA NDIEUPE Emilie &amp; MONGUE YOSSI Yvan </a:t>
            </a:r>
            <a:endParaRPr sz="2000" b="1" dirty="0">
              <a:solidFill>
                <a:schemeClr val="accent1">
                  <a:lumMod val="75000"/>
                </a:schemeClr>
              </a:solidFill>
            </a:endParaRPr>
          </a:p>
        </p:txBody>
      </p:sp>
      <p:cxnSp>
        <p:nvCxnSpPr>
          <p:cNvPr id="8" name="Connecteur droit 7">
            <a:extLst>
              <a:ext uri="{FF2B5EF4-FFF2-40B4-BE49-F238E27FC236}">
                <a16:creationId xmlns:a16="http://schemas.microsoft.com/office/drawing/2014/main" id="{72A1F947-CA74-4A97-A429-27E7A047C303}"/>
              </a:ext>
            </a:extLst>
          </p:cNvPr>
          <p:cNvCxnSpPr>
            <a:cxnSpLocks/>
          </p:cNvCxnSpPr>
          <p:nvPr/>
        </p:nvCxnSpPr>
        <p:spPr>
          <a:xfrm>
            <a:off x="2562225" y="3238500"/>
            <a:ext cx="7067550"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D935C74-F4C3-4C38-A4C2-FF5ED3CD5A57}"/>
              </a:ext>
            </a:extLst>
          </p:cNvPr>
          <p:cNvSpPr/>
          <p:nvPr/>
        </p:nvSpPr>
        <p:spPr>
          <a:xfrm>
            <a:off x="3339963" y="3321000"/>
            <a:ext cx="5512074" cy="369332"/>
          </a:xfrm>
          <a:prstGeom prst="rect">
            <a:avLst/>
          </a:prstGeom>
          <a:noFill/>
        </p:spPr>
        <p:txBody>
          <a:bodyPr wrap="square" lIns="91440" tIns="45720" rIns="91440" bIns="45720">
            <a:spAutoFit/>
          </a:bodyPr>
          <a:lstStyle/>
          <a:p>
            <a:pPr algn="ctr"/>
            <a:r>
              <a:rPr lang="fr-FR" b="0" cap="none" spc="0" dirty="0">
                <a:ln w="0"/>
                <a:solidFill>
                  <a:schemeClr val="tx1"/>
                </a:solidFill>
                <a:effectLst>
                  <a:outerShdw blurRad="38100" dist="19050" dir="2700000" algn="tl" rotWithShape="0">
                    <a:schemeClr val="dk1">
                      <a:alpha val="40000"/>
                    </a:schemeClr>
                  </a:outerShdw>
                </a:effectLst>
              </a:rPr>
              <a:t>Sous l’encadrement de: M NGUIMBUS</a:t>
            </a:r>
            <a:endParaRPr lang="fr-FR"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123477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E64D8EE-8A81-454C-B1FA-CE3FE526189A}"/>
              </a:ext>
            </a:extLst>
          </p:cNvPr>
          <p:cNvSpPr>
            <a:spLocks noGrp="1"/>
          </p:cNvSpPr>
          <p:nvPr>
            <p:ph idx="1"/>
          </p:nvPr>
        </p:nvSpPr>
        <p:spPr>
          <a:xfrm>
            <a:off x="2317897" y="276447"/>
            <a:ext cx="9324754" cy="6177516"/>
          </a:xfrm>
        </p:spPr>
        <p:txBody>
          <a:bodyPr/>
          <a:lstStyle/>
          <a:p>
            <a:pPr marL="0" indent="0">
              <a:buNone/>
            </a:pPr>
            <a:r>
              <a:rPr lang="fr-FR" sz="2400" b="1" dirty="0"/>
              <a:t>    </a:t>
            </a:r>
            <a:r>
              <a:rPr lang="fr-FR" sz="2800" b="1" dirty="0"/>
              <a:t>Architecture Globale du Système DLC</a:t>
            </a:r>
          </a:p>
          <a:p>
            <a:pPr marL="0" indent="0">
              <a:buNone/>
            </a:pPr>
            <a:r>
              <a:rPr lang="fr-FR" sz="2400" dirty="0"/>
              <a:t> 		</a:t>
            </a:r>
          </a:p>
          <a:p>
            <a:pPr marL="0" indent="0">
              <a:buNone/>
            </a:pPr>
            <a:r>
              <a:rPr lang="fr-FR" sz="2400" dirty="0"/>
              <a:t>		L'architecture du système </a:t>
            </a:r>
            <a:r>
              <a:rPr lang="fr-FR" sz="2400" b="1" dirty="0"/>
              <a:t>Distributed Log Collector (DLC)</a:t>
            </a:r>
            <a:r>
              <a:rPr lang="fr-FR" sz="2400" dirty="0"/>
              <a:t> est conçue selon un modèle distribué de type </a:t>
            </a:r>
            <a:r>
              <a:rPr lang="fr-FR" sz="2400" b="1" dirty="0"/>
              <a:t>N-Tiers</a:t>
            </a:r>
            <a:r>
              <a:rPr lang="fr-FR" sz="2400" dirty="0"/>
              <a:t>, structuré pour garantir la centralisation, la persistance et la sécurité des journaux d'événements provenant de nœuds hétérogènes (</a:t>
            </a:r>
            <a:r>
              <a:rPr lang="fr-FR" sz="2400" dirty="0" err="1"/>
              <a:t>OpenBSD</a:t>
            </a:r>
            <a:r>
              <a:rPr lang="fr-FR" sz="2400" dirty="0"/>
              <a:t> et Linux).</a:t>
            </a:r>
          </a:p>
          <a:p>
            <a:r>
              <a:rPr lang="fr-FR" sz="2400" b="1" dirty="0"/>
              <a:t>1. Vue d'Ensemble de l'Architecture</a:t>
            </a:r>
          </a:p>
          <a:p>
            <a:pPr marL="0" indent="0">
              <a:buNone/>
            </a:pPr>
            <a:r>
              <a:rPr lang="fr-FR" sz="2400" dirty="0"/>
              <a:t>	 	Le système repose sur une séparation stricte des responsabilités entre la collecte, le transport, le stockage et la visualisation.</a:t>
            </a:r>
          </a:p>
          <a:p>
            <a:pPr marL="0" indent="0">
              <a:buNone/>
            </a:pPr>
            <a:endParaRPr lang="fr-FR" dirty="0"/>
          </a:p>
        </p:txBody>
      </p:sp>
    </p:spTree>
    <p:extLst>
      <p:ext uri="{BB962C8B-B14F-4D97-AF65-F5344CB8AC3E}">
        <p14:creationId xmlns:p14="http://schemas.microsoft.com/office/powerpoint/2010/main" val="2218949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E64D8EE-8A81-454C-B1FA-CE3FE526189A}"/>
              </a:ext>
            </a:extLst>
          </p:cNvPr>
          <p:cNvSpPr>
            <a:spLocks noGrp="1"/>
          </p:cNvSpPr>
          <p:nvPr>
            <p:ph idx="1"/>
          </p:nvPr>
        </p:nvSpPr>
        <p:spPr>
          <a:xfrm>
            <a:off x="2317896" y="276447"/>
            <a:ext cx="9601201" cy="6177516"/>
          </a:xfrm>
        </p:spPr>
        <p:txBody>
          <a:bodyPr/>
          <a:lstStyle/>
          <a:p>
            <a:pPr marL="0" indent="0" algn="just">
              <a:buNone/>
            </a:pPr>
            <a:r>
              <a:rPr lang="fr-FR" b="1" dirty="0"/>
              <a:t>1.1 Le Modèle Producteur-Consommateur</a:t>
            </a:r>
          </a:p>
          <a:p>
            <a:pPr algn="just">
              <a:buFont typeface="Arial" panose="020B0604020202020204" pitchFamily="34" charset="0"/>
              <a:buChar char="•"/>
            </a:pPr>
            <a:r>
              <a:rPr lang="fr-FR" b="1" dirty="0"/>
              <a:t>Les Producteurs (Agents)</a:t>
            </a:r>
            <a:r>
              <a:rPr lang="fr-FR" dirty="0"/>
              <a:t> : Déployés sur les serveurs distants, ils extraient les données brutes.</a:t>
            </a:r>
          </a:p>
          <a:p>
            <a:pPr algn="just">
              <a:buFont typeface="Arial" panose="020B0604020202020204" pitchFamily="34" charset="0"/>
              <a:buChar char="•"/>
            </a:pPr>
            <a:r>
              <a:rPr lang="fr-FR" b="1" dirty="0"/>
              <a:t>Le Canal de Transport</a:t>
            </a:r>
            <a:r>
              <a:rPr lang="fr-FR" dirty="0"/>
              <a:t> : Sockets TCP sécurisées assurant le transit des flux.</a:t>
            </a:r>
          </a:p>
          <a:p>
            <a:pPr algn="just">
              <a:buFont typeface="Arial" panose="020B0604020202020204" pitchFamily="34" charset="0"/>
              <a:buChar char="•"/>
            </a:pPr>
            <a:r>
              <a:rPr lang="fr-FR" b="1" dirty="0"/>
              <a:t>Le Consommateur (</a:t>
            </a:r>
            <a:r>
              <a:rPr lang="fr-FR" b="1" dirty="0" err="1"/>
              <a:t>Aggregator</a:t>
            </a:r>
            <a:r>
              <a:rPr lang="fr-FR" b="1" dirty="0"/>
              <a:t>)</a:t>
            </a:r>
            <a:r>
              <a:rPr lang="fr-FR" dirty="0"/>
              <a:t> : Reçoit, traite et indexe les données pour le stockage.</a:t>
            </a:r>
          </a:p>
          <a:p>
            <a:pPr algn="just">
              <a:buFont typeface="Arial" panose="020B0604020202020204" pitchFamily="34" charset="0"/>
              <a:buChar char="•"/>
            </a:pPr>
            <a:endParaRPr lang="fr-FR" b="1" dirty="0"/>
          </a:p>
          <a:p>
            <a:pPr marL="0" indent="0" algn="just">
              <a:buNone/>
            </a:pPr>
            <a:r>
              <a:rPr lang="fr-FR" b="1" dirty="0"/>
              <a:t>2. Description des Couches Techniques</a:t>
            </a:r>
          </a:p>
          <a:p>
            <a:pPr marL="0" indent="0" algn="just">
              <a:buNone/>
            </a:pPr>
            <a:r>
              <a:rPr lang="fr-FR" b="1" dirty="0"/>
              <a:t>Couche 1 : Collecte (Les Nœuds Distants)</a:t>
            </a:r>
          </a:p>
          <a:p>
            <a:pPr marL="0" indent="0" algn="just">
              <a:buNone/>
            </a:pPr>
            <a:r>
              <a:rPr lang="fr-FR" dirty="0"/>
              <a:t>		Chaque machine surveillée (sous </a:t>
            </a:r>
            <a:r>
              <a:rPr lang="fr-FR" dirty="0" err="1"/>
              <a:t>OpenBSD</a:t>
            </a:r>
            <a:r>
              <a:rPr lang="fr-FR" dirty="0"/>
              <a:t> ou Kali Linux) héberge un </a:t>
            </a:r>
            <a:r>
              <a:rPr lang="fr-FR" b="1" dirty="0"/>
              <a:t>Agent 	Collector</a:t>
            </a:r>
            <a:r>
              <a:rPr lang="fr-FR" dirty="0"/>
              <a:t> (Python).</a:t>
            </a:r>
          </a:p>
          <a:p>
            <a:r>
              <a:rPr kumimoji="0" lang="fr-FR" altLang="fr-FR" sz="2000" b="1" i="0" u="none" strike="noStrike" cap="none" normalizeH="0" baseline="0" dirty="0">
                <a:ln>
                  <a:noFill/>
                </a:ln>
                <a:solidFill>
                  <a:schemeClr val="tx1"/>
                </a:solidFill>
                <a:effectLst/>
                <a:latin typeface="+mj-lt"/>
              </a:rPr>
              <a:t>Fonction</a:t>
            </a:r>
            <a:r>
              <a:rPr kumimoji="0" lang="fr-FR" altLang="fr-FR" sz="2000" b="0" i="0" u="none" strike="noStrike" cap="none" normalizeH="0" baseline="0" dirty="0">
                <a:ln>
                  <a:noFill/>
                </a:ln>
                <a:solidFill>
                  <a:schemeClr val="tx1"/>
                </a:solidFill>
                <a:effectLst/>
                <a:latin typeface="+mj-lt"/>
              </a:rPr>
              <a:t> : Lecture en temps réel des journaux système (/var/log/</a:t>
            </a:r>
            <a:r>
              <a:rPr kumimoji="0" lang="fr-FR" altLang="fr-FR" sz="2000" b="0" i="0" u="none" strike="noStrike" cap="none" normalizeH="0" baseline="0" dirty="0" err="1">
                <a:ln>
                  <a:noFill/>
                </a:ln>
                <a:solidFill>
                  <a:schemeClr val="tx1"/>
                </a:solidFill>
                <a:effectLst/>
                <a:latin typeface="+mj-lt"/>
              </a:rPr>
              <a:t>syslog</a:t>
            </a:r>
            <a:r>
              <a:rPr kumimoji="0" lang="fr-FR" altLang="fr-FR" sz="2000" b="0" i="0" u="none" strike="noStrike" cap="none" normalizeH="0" baseline="0" dirty="0">
                <a:ln>
                  <a:noFill/>
                </a:ln>
                <a:solidFill>
                  <a:schemeClr val="tx1"/>
                </a:solidFill>
                <a:effectLst/>
                <a:latin typeface="+mj-lt"/>
              </a:rPr>
              <a:t> ou /var/log/messages).</a:t>
            </a:r>
          </a:p>
        </p:txBody>
      </p:sp>
    </p:spTree>
    <p:extLst>
      <p:ext uri="{BB962C8B-B14F-4D97-AF65-F5344CB8AC3E}">
        <p14:creationId xmlns:p14="http://schemas.microsoft.com/office/powerpoint/2010/main" val="267839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E64D8EE-8A81-454C-B1FA-CE3FE526189A}"/>
              </a:ext>
            </a:extLst>
          </p:cNvPr>
          <p:cNvSpPr>
            <a:spLocks noGrp="1"/>
          </p:cNvSpPr>
          <p:nvPr>
            <p:ph idx="1"/>
          </p:nvPr>
        </p:nvSpPr>
        <p:spPr>
          <a:xfrm>
            <a:off x="2317896" y="276446"/>
            <a:ext cx="9874104" cy="6358269"/>
          </a:xfrm>
        </p:spPr>
        <p:txBody>
          <a:bodyPr>
            <a:normAutofit lnSpcReduction="10000"/>
          </a:bodyPr>
          <a:lstStyle/>
          <a:p>
            <a:pPr marL="0" indent="0">
              <a:buNone/>
            </a:pPr>
            <a:r>
              <a:rPr lang="fr-FR" b="1" dirty="0"/>
              <a:t>Couche 2 : Communication (Transport réseau)</a:t>
            </a:r>
          </a:p>
          <a:p>
            <a:pPr marL="0" indent="0">
              <a:buNone/>
            </a:pPr>
            <a:r>
              <a:rPr lang="fr-FR" dirty="0"/>
              <a:t> 	La communication entre les agents et le serveur central s'effectue via le 	protocole </a:t>
            </a:r>
            <a:r>
              <a:rPr lang="fr-FR" b="1" dirty="0"/>
              <a:t>TCP/IP</a:t>
            </a:r>
            <a:r>
              <a:rPr lang="fr-FR" dirty="0"/>
              <a:t>.</a:t>
            </a:r>
          </a:p>
          <a:p>
            <a:pPr lvl="1">
              <a:buFont typeface="Arial" panose="020B0604020202020204" pitchFamily="34" charset="0"/>
              <a:buChar char="•"/>
            </a:pPr>
            <a:r>
              <a:rPr lang="fr-FR" sz="1800" b="1" dirty="0"/>
              <a:t>Port de service</a:t>
            </a:r>
            <a:r>
              <a:rPr lang="fr-FR" sz="1800" dirty="0"/>
              <a:t> : 2000 (configurable).</a:t>
            </a:r>
          </a:p>
          <a:p>
            <a:pPr lvl="1">
              <a:buFont typeface="Arial" panose="020B0604020202020204" pitchFamily="34" charset="0"/>
              <a:buChar char="•"/>
            </a:pPr>
            <a:r>
              <a:rPr lang="fr-FR" sz="1800" b="1" dirty="0"/>
              <a:t>Format de donnée</a:t>
            </a:r>
            <a:r>
              <a:rPr lang="fr-FR" sz="1800" dirty="0"/>
              <a:t> : Chaînes de caractères formatées (</a:t>
            </a:r>
            <a:r>
              <a:rPr lang="fr-FR" sz="1800" dirty="0" err="1"/>
              <a:t>Hostname</a:t>
            </a:r>
            <a:r>
              <a:rPr lang="fr-FR" sz="1800" dirty="0"/>
              <a:t> | </a:t>
            </a:r>
            <a:r>
              <a:rPr lang="fr-FR" sz="1800" dirty="0" err="1"/>
              <a:t>Level</a:t>
            </a:r>
            <a:r>
              <a:rPr lang="fr-FR" sz="1800" dirty="0"/>
              <a:t> | Message) pour faciliter le </a:t>
            </a:r>
            <a:r>
              <a:rPr lang="fr-FR" sz="1800" dirty="0" err="1"/>
              <a:t>parsing</a:t>
            </a:r>
            <a:r>
              <a:rPr lang="fr-FR" sz="1800" dirty="0"/>
              <a:t> à la réception.</a:t>
            </a:r>
          </a:p>
          <a:p>
            <a:pPr marL="457200" lvl="1" indent="0">
              <a:buNone/>
            </a:pPr>
            <a:endParaRPr lang="fr-FR" sz="1800" dirty="0"/>
          </a:p>
          <a:p>
            <a:pPr marL="0" indent="0">
              <a:buNone/>
            </a:pPr>
            <a:r>
              <a:rPr lang="fr-FR" b="1" dirty="0"/>
              <a:t>Couche 3 : Agrégation et Traitement (Le Serveur Central)</a:t>
            </a:r>
          </a:p>
          <a:p>
            <a:pPr marL="0" indent="0">
              <a:buNone/>
            </a:pPr>
            <a:r>
              <a:rPr lang="fr-FR" dirty="0"/>
              <a:t>	Le </a:t>
            </a:r>
            <a:r>
              <a:rPr lang="fr-FR" b="1" dirty="0"/>
              <a:t>Log </a:t>
            </a:r>
            <a:r>
              <a:rPr lang="fr-FR" b="1" dirty="0" err="1"/>
              <a:t>Aggregator</a:t>
            </a:r>
            <a:r>
              <a:rPr lang="fr-FR" dirty="0"/>
              <a:t> est le cœur logique du système.</a:t>
            </a:r>
          </a:p>
          <a:p>
            <a:pPr lvl="1">
              <a:buFont typeface="Arial" panose="020B0604020202020204" pitchFamily="34" charset="0"/>
              <a:buChar char="•"/>
            </a:pPr>
            <a:r>
              <a:rPr lang="fr-FR" sz="1800" b="1" dirty="0"/>
              <a:t>Multithreading</a:t>
            </a:r>
            <a:r>
              <a:rPr lang="fr-FR" sz="1800" dirty="0"/>
              <a:t> : Capacité à gérer plusieurs connexions simultanées provenant de différents agents.</a:t>
            </a:r>
          </a:p>
          <a:p>
            <a:pPr lvl="1">
              <a:buFont typeface="Arial" panose="020B0604020202020204" pitchFamily="34" charset="0"/>
              <a:buChar char="•"/>
            </a:pPr>
            <a:r>
              <a:rPr lang="fr-FR" sz="1800" b="1" dirty="0"/>
              <a:t>Normalisation</a:t>
            </a:r>
            <a:r>
              <a:rPr lang="fr-FR" sz="1800" dirty="0"/>
              <a:t> : Conversion des données reçues en requêtes SQL structurées.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900" b="1" i="0" u="none" strike="noStrike" cap="none" normalizeH="0" baseline="0" dirty="0">
                <a:ln>
                  <a:noFill/>
                </a:ln>
                <a:solidFill>
                  <a:schemeClr val="tx1"/>
                </a:solidFill>
                <a:effectLst/>
                <a:latin typeface="+mj-lt"/>
              </a:rPr>
              <a:t>Couche 4 : Stockage (Persistance </a:t>
            </a:r>
            <a:r>
              <a:rPr kumimoji="0" lang="fr-FR" altLang="fr-FR" sz="1900" b="1" i="0" u="none" strike="noStrike" cap="none" normalizeH="0" baseline="0" dirty="0" err="1">
                <a:ln>
                  <a:noFill/>
                </a:ln>
                <a:solidFill>
                  <a:schemeClr val="tx1"/>
                </a:solidFill>
                <a:effectLst/>
                <a:latin typeface="+mj-lt"/>
              </a:rPr>
              <a:t>MariaDB</a:t>
            </a:r>
            <a:r>
              <a:rPr kumimoji="0" lang="fr-FR" altLang="fr-FR" sz="1900" b="1"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r>
              <a:rPr lang="fr-FR" altLang="fr-FR" sz="1900" dirty="0">
                <a:solidFill>
                  <a:schemeClr val="tx1"/>
                </a:solidFill>
                <a:latin typeface="+mj-lt"/>
              </a:rPr>
              <a:t>       </a:t>
            </a:r>
            <a:r>
              <a:rPr kumimoji="0" lang="fr-FR" altLang="fr-FR" sz="1900" b="0" i="0" u="none" strike="noStrike" cap="none" normalizeH="0" baseline="0" dirty="0">
                <a:ln>
                  <a:noFill/>
                </a:ln>
                <a:solidFill>
                  <a:schemeClr val="tx1"/>
                </a:solidFill>
                <a:effectLst/>
                <a:latin typeface="+mj-lt"/>
              </a:rPr>
              <a:t>Les données sont archivées dans une base de données relationnelle </a:t>
            </a:r>
            <a:r>
              <a:rPr kumimoji="0" lang="fr-FR" altLang="fr-FR" sz="1900" b="1" i="0" u="none" strike="noStrike" cap="none" normalizeH="0" baseline="0" dirty="0" err="1">
                <a:ln>
                  <a:noFill/>
                </a:ln>
                <a:solidFill>
                  <a:schemeClr val="tx1"/>
                </a:solidFill>
                <a:effectLst/>
                <a:latin typeface="+mj-lt"/>
              </a:rPr>
              <a:t>MariaDB</a:t>
            </a:r>
            <a:r>
              <a:rPr kumimoji="0" lang="fr-FR" altLang="fr-FR" sz="1900" b="0" i="0" u="none" strike="noStrike" cap="none" normalizeH="0" baseline="0" dirty="0">
                <a:ln>
                  <a:noFill/>
                </a:ln>
                <a:solidFill>
                  <a:schemeClr val="tx1"/>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lang="fr-FR" altLang="fr-FR" sz="1900" dirty="0">
                <a:solidFill>
                  <a:schemeClr val="tx1"/>
                </a:solidFill>
                <a:latin typeface="+mj-lt"/>
              </a:rPr>
              <a:t>       </a:t>
            </a:r>
            <a:r>
              <a:rPr kumimoji="0" lang="fr-FR" altLang="fr-FR" sz="1900" b="0" i="0" u="none" strike="noStrike" cap="none" normalizeH="0" baseline="0" dirty="0">
                <a:ln>
                  <a:noFill/>
                </a:ln>
                <a:solidFill>
                  <a:schemeClr val="tx1"/>
                </a:solidFill>
                <a:effectLst/>
                <a:latin typeface="+mj-lt"/>
              </a:rPr>
              <a:t>nommée </a:t>
            </a:r>
            <a:r>
              <a:rPr kumimoji="0" lang="fr-FR" altLang="fr-FR" sz="1900" b="0" i="0" u="none" strike="noStrike" cap="none" normalizeH="0" baseline="0" dirty="0" err="1">
                <a:ln>
                  <a:noFill/>
                </a:ln>
                <a:solidFill>
                  <a:schemeClr val="tx1"/>
                </a:solidFill>
                <a:effectLst/>
                <a:latin typeface="+mj-lt"/>
              </a:rPr>
              <a:t>dlc_logs</a:t>
            </a:r>
            <a:r>
              <a:rPr kumimoji="0" lang="fr-FR" altLang="fr-FR" sz="1900" b="0" i="0" u="none" strike="noStrike" cap="none" normalizeH="0" baseline="0" dirty="0">
                <a:ln>
                  <a:noFill/>
                </a:ln>
                <a:solidFill>
                  <a:schemeClr val="tx1"/>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900" b="0" i="0" u="none" strike="noStrike" cap="none" normalizeH="0" baseline="0" dirty="0">
              <a:ln>
                <a:noFill/>
              </a:ln>
              <a:solidFill>
                <a:schemeClr val="tx1"/>
              </a:solidFill>
              <a:effectLst/>
              <a:latin typeface="Arial" panose="020B0604020202020204" pitchFamily="34" charset="0"/>
            </a:endParaRPr>
          </a:p>
          <a:p>
            <a:pPr marL="400050" lvl="1" indent="0" defTabSz="914400" eaLnBrk="0" fontAlgn="base" hangingPunct="0">
              <a:spcBef>
                <a:spcPct val="0"/>
              </a:spcBef>
              <a:spcAft>
                <a:spcPct val="0"/>
              </a:spcAft>
              <a:buClrTx/>
              <a:buFontTx/>
              <a:buChar char="•"/>
            </a:pPr>
            <a:r>
              <a:rPr kumimoji="0" lang="fr-FR" altLang="fr-FR" sz="1800" b="1" i="0" u="none" strike="noStrike" cap="none" normalizeH="0" baseline="0" dirty="0">
                <a:ln>
                  <a:noFill/>
                </a:ln>
                <a:solidFill>
                  <a:schemeClr val="tx1"/>
                </a:solidFill>
                <a:effectLst/>
                <a:latin typeface="Arial" panose="020B0604020202020204" pitchFamily="34" charset="0"/>
              </a:rPr>
              <a:t> Indexation</a:t>
            </a:r>
            <a:r>
              <a:rPr kumimoji="0" lang="fr-FR" altLang="fr-FR" sz="1800" b="0" i="0" u="none" strike="noStrike" cap="none" normalizeH="0" baseline="0" dirty="0">
                <a:ln>
                  <a:noFill/>
                </a:ln>
                <a:solidFill>
                  <a:schemeClr val="tx1"/>
                </a:solidFill>
                <a:effectLst/>
                <a:latin typeface="Arial" panose="020B0604020202020204" pitchFamily="34" charset="0"/>
              </a:rPr>
              <a:t> : Les champs </a:t>
            </a:r>
            <a:r>
              <a:rPr kumimoji="0" lang="fr-FR" altLang="fr-FR" sz="1800" b="0" i="0" u="none" strike="noStrike" cap="none" normalizeH="0" baseline="0" dirty="0" err="1">
                <a:ln>
                  <a:noFill/>
                </a:ln>
                <a:solidFill>
                  <a:schemeClr val="tx1"/>
                </a:solidFill>
                <a:effectLst/>
                <a:latin typeface="Arial Unicode MS"/>
              </a:rPr>
              <a:t>hostname</a:t>
            </a:r>
            <a:r>
              <a:rPr kumimoji="0" lang="fr-FR" altLang="fr-FR" sz="1800" b="0" i="0" u="none" strike="noStrike" cap="none" normalizeH="0" baseline="0" dirty="0">
                <a:ln>
                  <a:noFill/>
                </a:ln>
                <a:solidFill>
                  <a:schemeClr val="tx1"/>
                </a:solidFill>
                <a:effectLst/>
              </a:rPr>
              <a:t>, </a:t>
            </a:r>
            <a:r>
              <a:rPr kumimoji="0" lang="fr-FR" altLang="fr-FR" sz="1800" b="0" i="0" u="none" strike="noStrike" cap="none" normalizeH="0" baseline="0" dirty="0" err="1">
                <a:ln>
                  <a:noFill/>
                </a:ln>
                <a:solidFill>
                  <a:schemeClr val="tx1"/>
                </a:solidFill>
                <a:effectLst/>
                <a:latin typeface="Arial Unicode MS"/>
              </a:rPr>
              <a:t>log_level</a:t>
            </a:r>
            <a:r>
              <a:rPr kumimoji="0" lang="fr-FR" altLang="fr-FR" sz="1800" b="0" i="0" u="none" strike="noStrike" cap="none" normalizeH="0" baseline="0" dirty="0">
                <a:ln>
                  <a:noFill/>
                </a:ln>
                <a:solidFill>
                  <a:schemeClr val="tx1"/>
                </a:solidFill>
                <a:effectLst/>
              </a:rPr>
              <a:t> et </a:t>
            </a:r>
            <a:r>
              <a:rPr kumimoji="0" lang="fr-FR" altLang="fr-FR" sz="1800" b="0" i="0" u="none" strike="noStrike" cap="none" normalizeH="0" baseline="0" dirty="0">
                <a:ln>
                  <a:noFill/>
                </a:ln>
                <a:solidFill>
                  <a:schemeClr val="tx1"/>
                </a:solidFill>
                <a:effectLst/>
                <a:latin typeface="Arial Unicode MS"/>
              </a:rPr>
              <a:t>timestamp</a:t>
            </a:r>
            <a:r>
              <a:rPr kumimoji="0" lang="fr-FR" altLang="fr-FR" sz="1800" b="0" i="0" u="none" strike="noStrike" cap="none" normalizeH="0" baseline="0" dirty="0">
                <a:ln>
                  <a:noFill/>
                </a:ln>
                <a:solidFill>
                  <a:schemeClr val="tx1"/>
                </a:solidFill>
                <a:effectLst/>
              </a:rPr>
              <a:t> sont indexés pour garantir la fluidité des recherches sur de gros volumes de données.</a:t>
            </a: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4800" b="0" i="0" u="none" strike="noStrike" cap="none" normalizeH="0" baseline="0" dirty="0">
              <a:ln>
                <a:noFill/>
              </a:ln>
              <a:solidFill>
                <a:schemeClr val="tx1"/>
              </a:solidFill>
              <a:effectLst/>
              <a:latin typeface="Arial" panose="020B0604020202020204" pitchFamily="34" charset="0"/>
            </a:endParaRPr>
          </a:p>
          <a:p>
            <a:pPr marL="0" indent="0">
              <a:buNone/>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7074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E64D8EE-8A81-454C-B1FA-CE3FE526189A}"/>
              </a:ext>
            </a:extLst>
          </p:cNvPr>
          <p:cNvSpPr>
            <a:spLocks noGrp="1"/>
          </p:cNvSpPr>
          <p:nvPr>
            <p:ph idx="1"/>
          </p:nvPr>
        </p:nvSpPr>
        <p:spPr>
          <a:xfrm>
            <a:off x="2317896" y="276446"/>
            <a:ext cx="9874104" cy="2180913"/>
          </a:xfrm>
        </p:spPr>
        <p:txBody>
          <a:bodyPr>
            <a:normAutofit/>
          </a:bodyPr>
          <a:lstStyle/>
          <a:p>
            <a:r>
              <a:rPr lang="fr-FR" b="1" dirty="0"/>
              <a:t>Couche 5 : Présentation (Dashboard Web)</a:t>
            </a:r>
          </a:p>
          <a:p>
            <a:pPr marL="0" indent="0">
              <a:buNone/>
            </a:pPr>
            <a:r>
              <a:rPr lang="fr-FR" dirty="0"/>
              <a:t>	Une interface développée en </a:t>
            </a:r>
            <a:r>
              <a:rPr lang="fr-FR" b="1" dirty="0"/>
              <a:t>PHP</a:t>
            </a:r>
            <a:r>
              <a:rPr lang="fr-FR" dirty="0"/>
              <a:t> et </a:t>
            </a:r>
            <a:r>
              <a:rPr lang="fr-FR" b="1" dirty="0"/>
              <a:t>Bootstrap</a:t>
            </a:r>
            <a:r>
              <a:rPr lang="fr-FR" dirty="0"/>
              <a:t> permet l'exploitation des données.</a:t>
            </a:r>
          </a:p>
          <a:p>
            <a:pPr lvl="1">
              <a:buFont typeface="Arial" panose="020B0604020202020204" pitchFamily="34" charset="0"/>
              <a:buChar char="•"/>
            </a:pPr>
            <a:r>
              <a:rPr lang="fr-FR" sz="1800" b="1" dirty="0"/>
              <a:t>Visualisation</a:t>
            </a:r>
            <a:r>
              <a:rPr lang="fr-FR" sz="1800" dirty="0"/>
              <a:t> : Tableau dynamique avec codes couleurs selon la gravité (Rouge pour ERROR, Jaune pour WARNING).</a:t>
            </a:r>
          </a:p>
          <a:p>
            <a:pPr lvl="1">
              <a:buFont typeface="Arial" panose="020B0604020202020204" pitchFamily="34" charset="0"/>
              <a:buChar char="•"/>
            </a:pPr>
            <a:r>
              <a:rPr lang="fr-FR" sz="1800" b="1" dirty="0"/>
              <a:t>Filtrage</a:t>
            </a:r>
            <a:r>
              <a:rPr lang="fr-FR" sz="1800" dirty="0"/>
              <a:t> : Outils de recherche par machine source et par période temporelle.</a:t>
            </a:r>
          </a:p>
          <a:p>
            <a:pPr lvl="1">
              <a:buFont typeface="Arial" panose="020B0604020202020204" pitchFamily="34" charset="0"/>
              <a:buChar char="•"/>
            </a:pPr>
            <a:endParaRPr lang="fr-FR" sz="1800" dirty="0"/>
          </a:p>
          <a:p>
            <a:pPr lvl="1">
              <a:buFont typeface="Arial" panose="020B0604020202020204" pitchFamily="34" charset="0"/>
              <a:buChar char="•"/>
            </a:pPr>
            <a:endParaRPr lang="fr-FR" sz="1800" dirty="0"/>
          </a:p>
          <a:p>
            <a:pPr lvl="1">
              <a:buFont typeface="Arial" panose="020B0604020202020204" pitchFamily="34" charset="0"/>
              <a:buChar char="•"/>
            </a:pPr>
            <a:endParaRPr lang="fr-FR" sz="1800" dirty="0"/>
          </a:p>
          <a:p>
            <a:pPr lvl="1">
              <a:buFont typeface="Arial" panose="020B0604020202020204" pitchFamily="34" charset="0"/>
              <a:buChar char="•"/>
            </a:pPr>
            <a:endParaRPr lang="fr-FR" sz="1800" dirty="0"/>
          </a:p>
          <a:p>
            <a:pPr lvl="1">
              <a:buFont typeface="Arial" panose="020B0604020202020204" pitchFamily="34" charset="0"/>
              <a:buChar char="•"/>
            </a:pPr>
            <a:endParaRPr lang="fr-FR" sz="1800" dirty="0"/>
          </a:p>
          <a:p>
            <a:pPr lvl="1">
              <a:buFont typeface="Arial" panose="020B0604020202020204" pitchFamily="34" charset="0"/>
              <a:buChar char="•"/>
            </a:pPr>
            <a:endParaRPr lang="fr-FR" sz="1800" dirty="0"/>
          </a:p>
          <a:p>
            <a:pPr lvl="1">
              <a:buFont typeface="Arial" panose="020B0604020202020204" pitchFamily="34" charset="0"/>
              <a:buChar char="•"/>
            </a:pPr>
            <a:endParaRPr lang="fr-FR" sz="1800" dirty="0"/>
          </a:p>
          <a:p>
            <a:pPr lvl="1">
              <a:buFont typeface="Arial" panose="020B0604020202020204" pitchFamily="34" charset="0"/>
              <a:buChar char="•"/>
            </a:pPr>
            <a:endParaRPr lang="fr-FR" sz="1800" dirty="0"/>
          </a:p>
          <a:p>
            <a:pPr lvl="1">
              <a:buFont typeface="Arial" panose="020B0604020202020204" pitchFamily="34" charset="0"/>
              <a:buChar char="•"/>
            </a:pPr>
            <a:endParaRPr lang="fr-FR" sz="1800" dirty="0"/>
          </a:p>
          <a:p>
            <a:pPr lvl="1">
              <a:buFont typeface="Arial" panose="020B0604020202020204" pitchFamily="34" charset="0"/>
              <a:buChar char="•"/>
            </a:pPr>
            <a:endParaRPr lang="fr-FR" sz="1800" dirty="0"/>
          </a:p>
          <a:p>
            <a:pPr marL="457200" lvl="1" indent="0">
              <a:buNone/>
            </a:pPr>
            <a:endParaRPr lang="fr-FR" sz="18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4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Tableau 5">
            <a:extLst>
              <a:ext uri="{FF2B5EF4-FFF2-40B4-BE49-F238E27FC236}">
                <a16:creationId xmlns:a16="http://schemas.microsoft.com/office/drawing/2014/main" id="{6010CF7F-D345-4365-B19E-2689492DD354}"/>
              </a:ext>
            </a:extLst>
          </p:cNvPr>
          <p:cNvGraphicFramePr>
            <a:graphicFrameLocks noGrp="1"/>
          </p:cNvGraphicFramePr>
          <p:nvPr>
            <p:extLst>
              <p:ext uri="{D42A27DB-BD31-4B8C-83A1-F6EECF244321}">
                <p14:modId xmlns:p14="http://schemas.microsoft.com/office/powerpoint/2010/main" val="459503891"/>
              </p:ext>
            </p:extLst>
          </p:nvPr>
        </p:nvGraphicFramePr>
        <p:xfrm>
          <a:off x="2482891" y="3393023"/>
          <a:ext cx="8915400" cy="2834640"/>
        </p:xfrm>
        <a:graphic>
          <a:graphicData uri="http://schemas.openxmlformats.org/drawingml/2006/table">
            <a:tbl>
              <a:tblPr/>
              <a:tblGrid>
                <a:gridCol w="2971800">
                  <a:extLst>
                    <a:ext uri="{9D8B030D-6E8A-4147-A177-3AD203B41FA5}">
                      <a16:colId xmlns:a16="http://schemas.microsoft.com/office/drawing/2014/main" val="677887527"/>
                    </a:ext>
                  </a:extLst>
                </a:gridCol>
                <a:gridCol w="2971800">
                  <a:extLst>
                    <a:ext uri="{9D8B030D-6E8A-4147-A177-3AD203B41FA5}">
                      <a16:colId xmlns:a16="http://schemas.microsoft.com/office/drawing/2014/main" val="4135524560"/>
                    </a:ext>
                  </a:extLst>
                </a:gridCol>
                <a:gridCol w="2971800">
                  <a:extLst>
                    <a:ext uri="{9D8B030D-6E8A-4147-A177-3AD203B41FA5}">
                      <a16:colId xmlns:a16="http://schemas.microsoft.com/office/drawing/2014/main" val="2666770808"/>
                    </a:ext>
                  </a:extLst>
                </a:gridCol>
              </a:tblGrid>
              <a:tr h="0">
                <a:tc>
                  <a:txBody>
                    <a:bodyPr/>
                    <a:lstStyle/>
                    <a:p>
                      <a:r>
                        <a:rPr lang="fr-FR" dirty="0"/>
                        <a:t>Acteur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a:t>Objectif Principal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9706931"/>
                  </a:ext>
                </a:extLst>
              </a:tr>
              <a:tr h="0">
                <a:tc>
                  <a:txBody>
                    <a:bodyPr/>
                    <a:lstStyle/>
                    <a:p>
                      <a:r>
                        <a:rPr lang="fr-FR" b="1" dirty="0"/>
                        <a:t>Administrateur</a:t>
                      </a: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Humain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a:t>Analyser les menaces et superviser l'état du réseau.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9310536"/>
                  </a:ext>
                </a:extLst>
              </a:tr>
              <a:tr h="0">
                <a:tc>
                  <a:txBody>
                    <a:bodyPr/>
                    <a:lstStyle/>
                    <a:p>
                      <a:r>
                        <a:rPr lang="fr-FR" b="1"/>
                        <a:t>Agent de Collecte</a:t>
                      </a:r>
                      <a:endParaRPr lang="fr-F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a:t>Système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a:t>Garantir la remontée des logs sans perte de données.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7127622"/>
                  </a:ext>
                </a:extLst>
              </a:tr>
              <a:tr h="0">
                <a:tc>
                  <a:txBody>
                    <a:bodyPr/>
                    <a:lstStyle/>
                    <a:p>
                      <a:r>
                        <a:rPr lang="fr-FR" b="1"/>
                        <a:t>Aggregator</a:t>
                      </a:r>
                      <a:endParaRPr lang="fr-F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a:t>Système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Organiser et sécuriser le stockage des logs reçus.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5310288"/>
                  </a:ext>
                </a:extLst>
              </a:tr>
            </a:tbl>
          </a:graphicData>
        </a:graphic>
      </p:graphicFrame>
      <p:sp>
        <p:nvSpPr>
          <p:cNvPr id="7" name="Rectangle 1">
            <a:extLst>
              <a:ext uri="{FF2B5EF4-FFF2-40B4-BE49-F238E27FC236}">
                <a16:creationId xmlns:a16="http://schemas.microsoft.com/office/drawing/2014/main" id="{612CD3D0-379B-460C-9BF2-4514F552DEB7}"/>
              </a:ext>
            </a:extLst>
          </p:cNvPr>
          <p:cNvSpPr>
            <a:spLocks noChangeArrowheads="1"/>
          </p:cNvSpPr>
          <p:nvPr/>
        </p:nvSpPr>
        <p:spPr bwMode="auto">
          <a:xfrm>
            <a:off x="2482891" y="2818352"/>
            <a:ext cx="34323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1" i="0" u="none" strike="noStrike" cap="none" normalizeH="0" baseline="0" dirty="0">
                <a:ln>
                  <a:noFill/>
                </a:ln>
                <a:solidFill>
                  <a:schemeClr val="tx1"/>
                </a:solidFill>
                <a:effectLst/>
                <a:latin typeface="Arial" panose="020B0604020202020204" pitchFamily="34" charset="0"/>
              </a:rPr>
              <a:t>Synthèse des interactions </a:t>
            </a:r>
          </a:p>
        </p:txBody>
      </p:sp>
    </p:spTree>
    <p:extLst>
      <p:ext uri="{BB962C8B-B14F-4D97-AF65-F5344CB8AC3E}">
        <p14:creationId xmlns:p14="http://schemas.microsoft.com/office/powerpoint/2010/main" val="37809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872C334-8662-43E9-83D3-909900C3D4CC}"/>
              </a:ext>
            </a:extLst>
          </p:cNvPr>
          <p:cNvSpPr>
            <a:spLocks noGrp="1"/>
          </p:cNvSpPr>
          <p:nvPr>
            <p:ph idx="1"/>
          </p:nvPr>
        </p:nvSpPr>
        <p:spPr>
          <a:xfrm>
            <a:off x="2264735" y="393406"/>
            <a:ext cx="9537405" cy="5602878"/>
          </a:xfrm>
        </p:spPr>
        <p:txBody>
          <a:bodyPr/>
          <a:lstStyle/>
          <a:p>
            <a:pPr marL="0" indent="0">
              <a:buNone/>
            </a:pPr>
            <a:r>
              <a:rPr lang="fr-FR" sz="1800" b="1" dirty="0"/>
              <a:t>3. Environnement de Déploiement</a:t>
            </a:r>
          </a:p>
          <a:p>
            <a:pPr>
              <a:buFont typeface="Arial" panose="020B0604020202020204" pitchFamily="34" charset="0"/>
              <a:buChar char="•"/>
            </a:pPr>
            <a:r>
              <a:rPr lang="fr-FR" sz="1800" b="1" dirty="0"/>
              <a:t>Serveur Central</a:t>
            </a:r>
            <a:r>
              <a:rPr lang="fr-FR" sz="1800" dirty="0"/>
              <a:t> : Kali Linux / Debian/ Ubuntu (Hébergeant </a:t>
            </a:r>
            <a:r>
              <a:rPr lang="fr-FR" sz="1800" dirty="0" err="1"/>
              <a:t>Aggregator</a:t>
            </a:r>
            <a:r>
              <a:rPr lang="fr-FR" sz="1800" dirty="0"/>
              <a:t>, </a:t>
            </a:r>
            <a:r>
              <a:rPr lang="fr-FR" sz="1800" dirty="0" err="1"/>
              <a:t>MariaDB</a:t>
            </a:r>
            <a:r>
              <a:rPr lang="fr-FR" sz="1800" dirty="0"/>
              <a:t> et Apache2).</a:t>
            </a:r>
          </a:p>
          <a:p>
            <a:pPr>
              <a:buFont typeface="Arial" panose="020B0604020202020204" pitchFamily="34" charset="0"/>
              <a:buChar char="•"/>
            </a:pPr>
            <a:r>
              <a:rPr lang="fr-FR" sz="1800" b="1" dirty="0"/>
              <a:t>Nœuds Clients</a:t>
            </a:r>
            <a:r>
              <a:rPr lang="fr-FR" sz="1800" dirty="0"/>
              <a:t> : </a:t>
            </a:r>
            <a:r>
              <a:rPr lang="fr-FR" sz="1800" dirty="0" err="1"/>
              <a:t>OpenBSD</a:t>
            </a:r>
            <a:r>
              <a:rPr lang="fr-FR" sz="1800" dirty="0"/>
              <a:t> 7.x (Cible principale) et Linux.</a:t>
            </a:r>
          </a:p>
          <a:p>
            <a:endParaRPr lang="fr-FR" dirty="0"/>
          </a:p>
        </p:txBody>
      </p:sp>
    </p:spTree>
    <p:extLst>
      <p:ext uri="{BB962C8B-B14F-4D97-AF65-F5344CB8AC3E}">
        <p14:creationId xmlns:p14="http://schemas.microsoft.com/office/powerpoint/2010/main" val="1660928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6079489-D031-4504-A451-A4389C3F7C44}"/>
              </a:ext>
            </a:extLst>
          </p:cNvPr>
          <p:cNvSpPr>
            <a:spLocks noChangeArrowheads="1"/>
          </p:cNvSpPr>
          <p:nvPr/>
        </p:nvSpPr>
        <p:spPr bwMode="auto">
          <a:xfrm>
            <a:off x="1743740" y="1191225"/>
            <a:ext cx="1030294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latin typeface="+mj-lt"/>
              </a:rPr>
              <a:t>Scénario A : Collecter logs</a:t>
            </a:r>
          </a:p>
          <a:p>
            <a:pPr lvl="1" defTabSz="914400" eaLnBrk="0" fontAlgn="base" hangingPunct="0">
              <a:spcBef>
                <a:spcPct val="0"/>
              </a:spcBef>
              <a:spcAft>
                <a:spcPct val="0"/>
              </a:spcAft>
              <a:buFontTx/>
              <a:buAutoNum type="arabicPeriod"/>
            </a:pPr>
            <a:r>
              <a:rPr kumimoji="0" lang="fr-FR" altLang="fr-FR" b="1" i="0" u="none" strike="noStrike" cap="none" normalizeH="0" baseline="0" dirty="0">
                <a:ln>
                  <a:noFill/>
                </a:ln>
                <a:solidFill>
                  <a:schemeClr val="tx1"/>
                </a:solidFill>
                <a:effectLst/>
                <a:latin typeface="+mj-lt"/>
              </a:rPr>
              <a:t>Agent -&gt; Serveur</a:t>
            </a:r>
            <a:r>
              <a:rPr kumimoji="0" lang="fr-FR" altLang="fr-FR" b="0" i="0" u="none" strike="noStrike" cap="none" normalizeH="0" baseline="0" dirty="0">
                <a:ln>
                  <a:noFill/>
                </a:ln>
                <a:solidFill>
                  <a:schemeClr val="tx1"/>
                </a:solidFill>
                <a:effectLst/>
                <a:latin typeface="+mj-lt"/>
              </a:rPr>
              <a:t> : Tentative de connexion TCP (Port </a:t>
            </a:r>
            <a:r>
              <a:rPr lang="fr-FR" altLang="fr-FR" dirty="0">
                <a:latin typeface="+mj-lt"/>
              </a:rPr>
              <a:t>2000</a:t>
            </a:r>
            <a:r>
              <a:rPr kumimoji="0" lang="fr-FR" altLang="fr-FR" b="0" i="0" u="none" strike="noStrike" cap="none" normalizeH="0" baseline="0" dirty="0">
                <a:ln>
                  <a:noFill/>
                </a:ln>
                <a:solidFill>
                  <a:schemeClr val="tx1"/>
                </a:solidFill>
                <a:effectLst/>
                <a:latin typeface="+mj-lt"/>
              </a:rPr>
              <a:t>).</a:t>
            </a:r>
          </a:p>
          <a:p>
            <a:pPr lvl="1" defTabSz="914400" eaLnBrk="0" fontAlgn="base" hangingPunct="0">
              <a:spcBef>
                <a:spcPct val="0"/>
              </a:spcBef>
              <a:spcAft>
                <a:spcPct val="0"/>
              </a:spcAft>
              <a:buFontTx/>
              <a:buAutoNum type="arabicPeriod"/>
            </a:pPr>
            <a:r>
              <a:rPr kumimoji="0" lang="fr-FR" altLang="fr-FR" b="1" i="0" u="none" strike="noStrike" cap="none" normalizeH="0" baseline="0" dirty="0">
                <a:ln>
                  <a:noFill/>
                </a:ln>
                <a:solidFill>
                  <a:schemeClr val="tx1"/>
                </a:solidFill>
                <a:effectLst/>
                <a:latin typeface="+mj-lt"/>
              </a:rPr>
              <a:t>Bloc Alternative</a:t>
            </a:r>
            <a:r>
              <a:rPr kumimoji="0" lang="fr-FR" altLang="fr-FR" b="0" i="0" u="none" strike="noStrike" cap="none" normalizeH="0" baseline="0" dirty="0">
                <a:ln>
                  <a:noFill/>
                </a:ln>
                <a:solidFill>
                  <a:schemeClr val="tx1"/>
                </a:solidFill>
                <a:effectLst/>
                <a:latin typeface="+mj-lt"/>
              </a:rPr>
              <a:t> :</a:t>
            </a:r>
          </a:p>
          <a:p>
            <a:pPr lvl="1" defTabSz="914400" eaLnBrk="0" fontAlgn="base" hangingPunct="0">
              <a:spcBef>
                <a:spcPct val="0"/>
              </a:spcBef>
              <a:spcAft>
                <a:spcPct val="0"/>
              </a:spcAft>
            </a:pPr>
            <a:endParaRPr kumimoji="0" lang="fr-FR" altLang="fr-FR" b="0" i="0" u="none" strike="noStrike" cap="none" normalizeH="0" baseline="0" dirty="0">
              <a:ln>
                <a:noFill/>
              </a:ln>
              <a:solidFill>
                <a:schemeClr val="tx1"/>
              </a:solidFill>
              <a:effectLst/>
              <a:latin typeface="+mj-lt"/>
            </a:endParaRPr>
          </a:p>
          <a:p>
            <a:pPr lvl="2" defTabSz="914400" eaLnBrk="0" fontAlgn="base" hangingPunct="0">
              <a:spcBef>
                <a:spcPct val="0"/>
              </a:spcBef>
              <a:spcAft>
                <a:spcPct val="0"/>
              </a:spcAft>
              <a:buFontTx/>
              <a:buChar char="•"/>
            </a:pPr>
            <a:r>
              <a:rPr kumimoji="0" lang="fr-FR" altLang="fr-FR" b="1" i="0" u="none" strike="noStrike" cap="none" normalizeH="0" baseline="0" dirty="0">
                <a:ln>
                  <a:noFill/>
                </a:ln>
                <a:solidFill>
                  <a:schemeClr val="tx1"/>
                </a:solidFill>
                <a:effectLst/>
                <a:latin typeface="+mj-lt"/>
              </a:rPr>
              <a:t>CAS 1 ou il y a succès</a:t>
            </a:r>
            <a:r>
              <a:rPr kumimoji="0" lang="fr-FR" altLang="fr-FR" b="0" i="0" u="none" strike="noStrike" cap="none" normalizeH="0" baseline="0" dirty="0">
                <a:ln>
                  <a:noFill/>
                </a:ln>
                <a:solidFill>
                  <a:schemeClr val="tx1"/>
                </a:solidFill>
                <a:effectLst/>
                <a:latin typeface="+mj-lt"/>
              </a:rPr>
              <a:t> :</a:t>
            </a:r>
          </a:p>
          <a:p>
            <a:pPr lvl="3" defTabSz="914400" eaLnBrk="0" fontAlgn="base" hangingPunct="0">
              <a:spcBef>
                <a:spcPct val="0"/>
              </a:spcBef>
              <a:spcAft>
                <a:spcPct val="0"/>
              </a:spcAft>
              <a:buFontTx/>
              <a:buChar char="•"/>
            </a:pPr>
            <a:r>
              <a:rPr kumimoji="0" lang="fr-FR" altLang="fr-FR" b="0" i="0" u="none" strike="noStrike" cap="none" normalizeH="0" baseline="0" dirty="0">
                <a:ln>
                  <a:noFill/>
                </a:ln>
                <a:solidFill>
                  <a:schemeClr val="tx1"/>
                </a:solidFill>
                <a:effectLst/>
                <a:latin typeface="+mj-lt"/>
              </a:rPr>
              <a:t>Agent -&gt; Serveur : Envoi des données (</a:t>
            </a:r>
            <a:r>
              <a:rPr kumimoji="0" lang="fr-FR" altLang="fr-FR" b="0" i="0" u="none" strike="noStrike" cap="none" normalizeH="0" baseline="0" dirty="0" err="1">
                <a:ln>
                  <a:noFill/>
                </a:ln>
                <a:solidFill>
                  <a:schemeClr val="tx1"/>
                </a:solidFill>
                <a:effectLst/>
                <a:latin typeface="+mj-lt"/>
              </a:rPr>
              <a:t>Hostname</a:t>
            </a:r>
            <a:r>
              <a:rPr kumimoji="0" lang="fr-FR" altLang="fr-FR" b="0" i="0" u="none" strike="noStrike" cap="none" normalizeH="0" baseline="0" dirty="0">
                <a:ln>
                  <a:noFill/>
                </a:ln>
                <a:solidFill>
                  <a:schemeClr val="tx1"/>
                </a:solidFill>
                <a:effectLst/>
                <a:latin typeface="+mj-lt"/>
              </a:rPr>
              <a:t>, </a:t>
            </a:r>
            <a:r>
              <a:rPr kumimoji="0" lang="fr-FR" altLang="fr-FR" b="0" i="0" u="none" strike="noStrike" cap="none" normalizeH="0" baseline="0" dirty="0" err="1">
                <a:ln>
                  <a:noFill/>
                </a:ln>
                <a:solidFill>
                  <a:schemeClr val="tx1"/>
                </a:solidFill>
                <a:effectLst/>
                <a:latin typeface="+mj-lt"/>
              </a:rPr>
              <a:t>Level</a:t>
            </a:r>
            <a:r>
              <a:rPr kumimoji="0" lang="fr-FR" altLang="fr-FR" b="0" i="0" u="none" strike="noStrike" cap="none" normalizeH="0" baseline="0" dirty="0">
                <a:ln>
                  <a:noFill/>
                </a:ln>
                <a:solidFill>
                  <a:schemeClr val="tx1"/>
                </a:solidFill>
                <a:effectLst/>
                <a:latin typeface="+mj-lt"/>
              </a:rPr>
              <a:t>, Msg).</a:t>
            </a:r>
          </a:p>
          <a:p>
            <a:pPr lvl="3" defTabSz="914400" eaLnBrk="0" fontAlgn="base" hangingPunct="0">
              <a:spcBef>
                <a:spcPct val="0"/>
              </a:spcBef>
              <a:spcAft>
                <a:spcPct val="0"/>
              </a:spcAft>
              <a:buFontTx/>
              <a:buChar char="•"/>
            </a:pPr>
            <a:r>
              <a:rPr kumimoji="0" lang="fr-FR" altLang="fr-FR" b="0" i="0" u="none" strike="noStrike" cap="none" normalizeH="0" baseline="0" dirty="0">
                <a:ln>
                  <a:noFill/>
                </a:ln>
                <a:solidFill>
                  <a:schemeClr val="tx1"/>
                </a:solidFill>
                <a:effectLst/>
                <a:latin typeface="+mj-lt"/>
              </a:rPr>
              <a:t>Serveur : </a:t>
            </a:r>
            <a:r>
              <a:rPr lang="fr-FR" altLang="fr-FR" dirty="0">
                <a:latin typeface="+mj-lt"/>
              </a:rPr>
              <a:t>Effectue une vérification sur </a:t>
            </a:r>
            <a:r>
              <a:rPr kumimoji="0" lang="fr-FR" altLang="fr-FR" b="0" i="0" u="none" strike="noStrike" cap="none" normalizeH="0" baseline="0" dirty="0">
                <a:ln>
                  <a:noFill/>
                </a:ln>
                <a:solidFill>
                  <a:schemeClr val="tx1"/>
                </a:solidFill>
                <a:effectLst/>
                <a:latin typeface="+mj-lt"/>
              </a:rPr>
              <a:t>les données.</a:t>
            </a:r>
          </a:p>
          <a:p>
            <a:pPr lvl="3" defTabSz="914400" eaLnBrk="0" fontAlgn="base" hangingPunct="0">
              <a:spcBef>
                <a:spcPct val="0"/>
              </a:spcBef>
              <a:spcAft>
                <a:spcPct val="0"/>
              </a:spcAft>
              <a:buFontTx/>
              <a:buChar char="•"/>
            </a:pPr>
            <a:r>
              <a:rPr kumimoji="0" lang="fr-FR" altLang="fr-FR" b="0" i="0" u="none" strike="noStrike" cap="none" normalizeH="0" baseline="0" dirty="0">
                <a:ln>
                  <a:noFill/>
                </a:ln>
                <a:solidFill>
                  <a:schemeClr val="tx1"/>
                </a:solidFill>
                <a:effectLst/>
                <a:latin typeface="+mj-lt"/>
              </a:rPr>
              <a:t>Serveur -&gt; </a:t>
            </a:r>
            <a:r>
              <a:rPr kumimoji="0" lang="fr-FR" altLang="fr-FR" b="0" i="0" u="none" strike="noStrike" cap="none" normalizeH="0" baseline="0" dirty="0" err="1">
                <a:ln>
                  <a:noFill/>
                </a:ln>
                <a:solidFill>
                  <a:schemeClr val="tx1"/>
                </a:solidFill>
                <a:effectLst/>
                <a:latin typeface="+mj-lt"/>
              </a:rPr>
              <a:t>MariaDB</a:t>
            </a:r>
            <a:r>
              <a:rPr kumimoji="0" lang="fr-FR" altLang="fr-FR" b="0" i="0" u="none" strike="noStrike" cap="none" normalizeH="0" baseline="0" dirty="0">
                <a:ln>
                  <a:noFill/>
                </a:ln>
                <a:solidFill>
                  <a:schemeClr val="tx1"/>
                </a:solidFill>
                <a:effectLst/>
                <a:latin typeface="+mj-lt"/>
              </a:rPr>
              <a:t> : Requête INSERT.</a:t>
            </a:r>
            <a:endParaRPr lang="fr-FR" altLang="fr-FR"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latin typeface="+mj-lt"/>
              </a:rPr>
              <a:t>Scénario B : Consulter</a:t>
            </a:r>
          </a:p>
          <a:p>
            <a:pPr lvl="1" defTabSz="914400" eaLnBrk="0" fontAlgn="base" hangingPunct="0">
              <a:spcBef>
                <a:spcPct val="0"/>
              </a:spcBef>
              <a:spcAft>
                <a:spcPct val="0"/>
              </a:spcAft>
              <a:buFontTx/>
              <a:buAutoNum type="arabicPeriod"/>
            </a:pPr>
            <a:r>
              <a:rPr kumimoji="0" lang="fr-FR" altLang="fr-FR" b="1" i="0" u="none" strike="noStrike" cap="none" normalizeH="0" baseline="0" dirty="0">
                <a:ln>
                  <a:noFill/>
                </a:ln>
                <a:solidFill>
                  <a:schemeClr val="tx1"/>
                </a:solidFill>
                <a:effectLst/>
                <a:latin typeface="+mj-lt"/>
              </a:rPr>
              <a:t>Admin -&gt; Web Interface</a:t>
            </a:r>
            <a:r>
              <a:rPr kumimoji="0" lang="fr-FR" altLang="fr-FR" b="0" i="0" u="none" strike="noStrike" cap="none" normalizeH="0" baseline="0" dirty="0">
                <a:ln>
                  <a:noFill/>
                </a:ln>
                <a:solidFill>
                  <a:schemeClr val="tx1"/>
                </a:solidFill>
                <a:effectLst/>
                <a:latin typeface="+mj-lt"/>
              </a:rPr>
              <a:t> : Requête de connexion (Login).</a:t>
            </a:r>
          </a:p>
          <a:p>
            <a:pPr lvl="1" defTabSz="914400" eaLnBrk="0" fontAlgn="base" hangingPunct="0">
              <a:spcBef>
                <a:spcPct val="0"/>
              </a:spcBef>
              <a:spcAft>
                <a:spcPct val="0"/>
              </a:spcAft>
              <a:buFontTx/>
              <a:buAutoNum type="arabicPeriod"/>
            </a:pPr>
            <a:r>
              <a:rPr kumimoji="0" lang="fr-FR" altLang="fr-FR" b="1" i="0" u="none" strike="noStrike" cap="none" normalizeH="0" baseline="0" dirty="0">
                <a:ln>
                  <a:noFill/>
                </a:ln>
                <a:solidFill>
                  <a:schemeClr val="tx1"/>
                </a:solidFill>
                <a:effectLst/>
                <a:latin typeface="+mj-lt"/>
              </a:rPr>
              <a:t>Web Interface -&gt; Admin</a:t>
            </a:r>
            <a:r>
              <a:rPr kumimoji="0" lang="fr-FR" altLang="fr-FR" b="0" i="0" u="none" strike="noStrike" cap="none" normalizeH="0" baseline="0" dirty="0">
                <a:ln>
                  <a:noFill/>
                </a:ln>
                <a:solidFill>
                  <a:schemeClr val="tx1"/>
                </a:solidFill>
                <a:effectLst/>
                <a:latin typeface="+mj-lt"/>
              </a:rPr>
              <a:t> : Demande d'authentification.</a:t>
            </a:r>
          </a:p>
          <a:p>
            <a:pPr lvl="1" defTabSz="914400" eaLnBrk="0" fontAlgn="base" hangingPunct="0">
              <a:spcBef>
                <a:spcPct val="0"/>
              </a:spcBef>
              <a:spcAft>
                <a:spcPct val="0"/>
              </a:spcAft>
              <a:buFontTx/>
              <a:buAutoNum type="arabicPeriod"/>
            </a:pPr>
            <a:r>
              <a:rPr kumimoji="0" lang="fr-FR" altLang="fr-FR" b="1" i="0" u="none" strike="noStrike" cap="none" normalizeH="0" baseline="0" dirty="0">
                <a:ln>
                  <a:noFill/>
                </a:ln>
                <a:solidFill>
                  <a:schemeClr val="tx1"/>
                </a:solidFill>
                <a:effectLst/>
                <a:latin typeface="+mj-lt"/>
              </a:rPr>
              <a:t>Admin -&gt; Web Interface</a:t>
            </a:r>
            <a:r>
              <a:rPr kumimoji="0" lang="fr-FR" altLang="fr-FR" b="0" i="0" u="none" strike="noStrike" cap="none" normalizeH="0" baseline="0" dirty="0">
                <a:ln>
                  <a:noFill/>
                </a:ln>
                <a:solidFill>
                  <a:schemeClr val="tx1"/>
                </a:solidFill>
                <a:effectLst/>
                <a:latin typeface="+mj-lt"/>
              </a:rPr>
              <a:t> : Consultation des logs (avec filtres).</a:t>
            </a:r>
          </a:p>
          <a:p>
            <a:pPr lvl="1" defTabSz="914400" eaLnBrk="0" fontAlgn="base" hangingPunct="0">
              <a:spcBef>
                <a:spcPct val="0"/>
              </a:spcBef>
              <a:spcAft>
                <a:spcPct val="0"/>
              </a:spcAft>
              <a:buFontTx/>
              <a:buAutoNum type="arabicPeriod"/>
            </a:pPr>
            <a:r>
              <a:rPr kumimoji="0" lang="fr-FR" altLang="fr-FR" b="1" i="0" u="none" strike="noStrike" cap="none" normalizeH="0" baseline="0" dirty="0">
                <a:ln>
                  <a:noFill/>
                </a:ln>
                <a:solidFill>
                  <a:schemeClr val="tx1"/>
                </a:solidFill>
                <a:effectLst/>
                <a:latin typeface="+mj-lt"/>
              </a:rPr>
              <a:t>Web Interface -&gt; </a:t>
            </a:r>
            <a:r>
              <a:rPr kumimoji="0" lang="fr-FR" altLang="fr-FR" b="1" i="0" u="none" strike="noStrike" cap="none" normalizeH="0" baseline="0" dirty="0" err="1">
                <a:ln>
                  <a:noFill/>
                </a:ln>
                <a:solidFill>
                  <a:schemeClr val="tx1"/>
                </a:solidFill>
                <a:effectLst/>
                <a:latin typeface="+mj-lt"/>
              </a:rPr>
              <a:t>MariaDB</a:t>
            </a:r>
            <a:r>
              <a:rPr kumimoji="0" lang="fr-FR" altLang="fr-FR" b="0" i="0" u="none" strike="noStrike" cap="none" normalizeH="0" baseline="0" dirty="0">
                <a:ln>
                  <a:noFill/>
                </a:ln>
                <a:solidFill>
                  <a:schemeClr val="tx1"/>
                </a:solidFill>
                <a:effectLst/>
                <a:latin typeface="+mj-lt"/>
              </a:rPr>
              <a:t> : Requête SELECT.</a:t>
            </a:r>
          </a:p>
          <a:p>
            <a:pPr lvl="1" defTabSz="914400" eaLnBrk="0" fontAlgn="base" hangingPunct="0">
              <a:spcBef>
                <a:spcPct val="0"/>
              </a:spcBef>
              <a:spcAft>
                <a:spcPct val="0"/>
              </a:spcAft>
              <a:buFontTx/>
              <a:buAutoNum type="arabicPeriod"/>
            </a:pPr>
            <a:r>
              <a:rPr kumimoji="0" lang="fr-FR" altLang="fr-FR" b="1" i="0" u="none" strike="noStrike" cap="none" normalizeH="0" baseline="0" dirty="0" err="1">
                <a:ln>
                  <a:noFill/>
                </a:ln>
                <a:solidFill>
                  <a:schemeClr val="tx1"/>
                </a:solidFill>
                <a:effectLst/>
                <a:latin typeface="+mj-lt"/>
              </a:rPr>
              <a:t>MariaDB</a:t>
            </a:r>
            <a:r>
              <a:rPr kumimoji="0" lang="fr-FR" altLang="fr-FR" b="1" i="0" u="none" strike="noStrike" cap="none" normalizeH="0" baseline="0" dirty="0">
                <a:ln>
                  <a:noFill/>
                </a:ln>
                <a:solidFill>
                  <a:schemeClr val="tx1"/>
                </a:solidFill>
                <a:effectLst/>
                <a:latin typeface="+mj-lt"/>
              </a:rPr>
              <a:t> -&gt; Web Interface</a:t>
            </a:r>
            <a:r>
              <a:rPr kumimoji="0" lang="fr-FR" altLang="fr-FR" b="0" i="0" u="none" strike="noStrike" cap="none" normalizeH="0" baseline="0" dirty="0">
                <a:ln>
                  <a:noFill/>
                </a:ln>
                <a:solidFill>
                  <a:schemeClr val="tx1"/>
                </a:solidFill>
                <a:effectLst/>
                <a:latin typeface="+mj-lt"/>
              </a:rPr>
              <a:t> : Jeu de résultats (Logs).</a:t>
            </a:r>
          </a:p>
          <a:p>
            <a:pPr lvl="1" defTabSz="914400" eaLnBrk="0" fontAlgn="base" hangingPunct="0">
              <a:spcBef>
                <a:spcPct val="0"/>
              </a:spcBef>
              <a:spcAft>
                <a:spcPct val="0"/>
              </a:spcAft>
              <a:buFontTx/>
              <a:buAutoNum type="arabicPeriod"/>
            </a:pPr>
            <a:r>
              <a:rPr kumimoji="0" lang="fr-FR" altLang="fr-FR" b="1" i="0" u="none" strike="noStrike" cap="none" normalizeH="0" baseline="0" dirty="0">
                <a:ln>
                  <a:noFill/>
                </a:ln>
                <a:solidFill>
                  <a:schemeClr val="tx1"/>
                </a:solidFill>
                <a:effectLst/>
                <a:latin typeface="+mj-lt"/>
              </a:rPr>
              <a:t>Web Interface -&gt; Admin</a:t>
            </a:r>
            <a:r>
              <a:rPr kumimoji="0" lang="fr-FR" altLang="fr-FR" b="0" i="0" u="none" strike="noStrike" cap="none" normalizeH="0" baseline="0" dirty="0">
                <a:ln>
                  <a:noFill/>
                </a:ln>
                <a:solidFill>
                  <a:schemeClr val="tx1"/>
                </a:solidFill>
                <a:effectLst/>
                <a:latin typeface="+mj-lt"/>
              </a:rPr>
              <a:t> : Affichage du Dashboard (Code couleur).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4881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1267FE-FB42-4CCD-933C-EE74FBF9D32D}"/>
              </a:ext>
            </a:extLst>
          </p:cNvPr>
          <p:cNvSpPr>
            <a:spLocks noGrp="1"/>
          </p:cNvSpPr>
          <p:nvPr>
            <p:ph type="title"/>
          </p:nvPr>
        </p:nvSpPr>
        <p:spPr>
          <a:xfrm>
            <a:off x="2592925" y="156272"/>
            <a:ext cx="8911687" cy="614140"/>
          </a:xfrm>
        </p:spPr>
        <p:txBody>
          <a:bodyPr>
            <a:normAutofit fontScale="90000"/>
          </a:bodyPr>
          <a:lstStyle/>
          <a:p>
            <a:r>
              <a:rPr lang="fr-FR" dirty="0"/>
              <a:t>DIAGRAMME DE SEQUENCE</a:t>
            </a:r>
          </a:p>
        </p:txBody>
      </p:sp>
      <p:sp>
        <p:nvSpPr>
          <p:cNvPr id="3" name="Titre 1">
            <a:extLst>
              <a:ext uri="{FF2B5EF4-FFF2-40B4-BE49-F238E27FC236}">
                <a16:creationId xmlns:a16="http://schemas.microsoft.com/office/drawing/2014/main" id="{A7FA0360-6A7A-1494-07CE-C82FD7FC4132}"/>
              </a:ext>
            </a:extLst>
          </p:cNvPr>
          <p:cNvSpPr txBox="1">
            <a:spLocks/>
          </p:cNvSpPr>
          <p:nvPr/>
        </p:nvSpPr>
        <p:spPr>
          <a:xfrm>
            <a:off x="1640156" y="770412"/>
            <a:ext cx="8911687" cy="479654"/>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2800" dirty="0"/>
              <a:t>SCENARIO A: Collecter les logs</a:t>
            </a:r>
          </a:p>
        </p:txBody>
      </p:sp>
      <p:pic>
        <p:nvPicPr>
          <p:cNvPr id="12" name="Image 11">
            <a:extLst>
              <a:ext uri="{FF2B5EF4-FFF2-40B4-BE49-F238E27FC236}">
                <a16:creationId xmlns:a16="http://schemas.microsoft.com/office/drawing/2014/main" id="{7B01AB30-B5C1-70DE-7C73-693372971D0D}"/>
              </a:ext>
            </a:extLst>
          </p:cNvPr>
          <p:cNvPicPr>
            <a:picLocks noChangeAspect="1"/>
          </p:cNvPicPr>
          <p:nvPr/>
        </p:nvPicPr>
        <p:blipFill>
          <a:blip r:embed="rId2"/>
          <a:stretch>
            <a:fillRect/>
          </a:stretch>
        </p:blipFill>
        <p:spPr>
          <a:xfrm>
            <a:off x="3178426" y="1502229"/>
            <a:ext cx="8075136" cy="7315200"/>
          </a:xfrm>
          <a:prstGeom prst="rect">
            <a:avLst/>
          </a:prstGeom>
        </p:spPr>
      </p:pic>
    </p:spTree>
    <p:extLst>
      <p:ext uri="{BB962C8B-B14F-4D97-AF65-F5344CB8AC3E}">
        <p14:creationId xmlns:p14="http://schemas.microsoft.com/office/powerpoint/2010/main" val="3286847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6DA45-1E16-06F3-0D42-FEF84604A6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8559645-C6E3-874E-26F5-68693B7932C3}"/>
              </a:ext>
            </a:extLst>
          </p:cNvPr>
          <p:cNvSpPr>
            <a:spLocks noGrp="1"/>
          </p:cNvSpPr>
          <p:nvPr>
            <p:ph type="title"/>
          </p:nvPr>
        </p:nvSpPr>
        <p:spPr>
          <a:xfrm>
            <a:off x="2592925" y="156272"/>
            <a:ext cx="8911687" cy="614140"/>
          </a:xfrm>
        </p:spPr>
        <p:txBody>
          <a:bodyPr>
            <a:normAutofit fontScale="90000"/>
          </a:bodyPr>
          <a:lstStyle/>
          <a:p>
            <a:r>
              <a:rPr lang="fr-FR" dirty="0"/>
              <a:t>DIAGRAMME DE SEQUENCE</a:t>
            </a:r>
          </a:p>
        </p:txBody>
      </p:sp>
      <p:sp>
        <p:nvSpPr>
          <p:cNvPr id="3" name="Titre 1">
            <a:extLst>
              <a:ext uri="{FF2B5EF4-FFF2-40B4-BE49-F238E27FC236}">
                <a16:creationId xmlns:a16="http://schemas.microsoft.com/office/drawing/2014/main" id="{EA122DFE-8A18-F065-CDCB-9FBECCAF23E3}"/>
              </a:ext>
            </a:extLst>
          </p:cNvPr>
          <p:cNvSpPr txBox="1">
            <a:spLocks/>
          </p:cNvSpPr>
          <p:nvPr/>
        </p:nvSpPr>
        <p:spPr>
          <a:xfrm>
            <a:off x="1640156" y="770412"/>
            <a:ext cx="8911687" cy="479654"/>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2800" dirty="0"/>
              <a:t>SCENARIO B: Consulter</a:t>
            </a:r>
          </a:p>
        </p:txBody>
      </p:sp>
      <p:pic>
        <p:nvPicPr>
          <p:cNvPr id="7" name="Image 6">
            <a:extLst>
              <a:ext uri="{FF2B5EF4-FFF2-40B4-BE49-F238E27FC236}">
                <a16:creationId xmlns:a16="http://schemas.microsoft.com/office/drawing/2014/main" id="{D7A6CD48-B084-67F9-4697-85693BCBC429}"/>
              </a:ext>
            </a:extLst>
          </p:cNvPr>
          <p:cNvPicPr>
            <a:picLocks noChangeAspect="1"/>
          </p:cNvPicPr>
          <p:nvPr/>
        </p:nvPicPr>
        <p:blipFill>
          <a:blip r:embed="rId2"/>
          <a:stretch>
            <a:fillRect/>
          </a:stretch>
        </p:blipFill>
        <p:spPr>
          <a:xfrm>
            <a:off x="2592925" y="1250066"/>
            <a:ext cx="9298850" cy="8196351"/>
          </a:xfrm>
          <a:prstGeom prst="rect">
            <a:avLst/>
          </a:prstGeom>
        </p:spPr>
      </p:pic>
    </p:spTree>
    <p:extLst>
      <p:ext uri="{BB962C8B-B14F-4D97-AF65-F5344CB8AC3E}">
        <p14:creationId xmlns:p14="http://schemas.microsoft.com/office/powerpoint/2010/main" val="1912946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484D03-78E3-4B55-8087-CC4E54F0F7BD}"/>
              </a:ext>
            </a:extLst>
          </p:cNvPr>
          <p:cNvSpPr>
            <a:spLocks noGrp="1"/>
          </p:cNvSpPr>
          <p:nvPr>
            <p:ph type="title"/>
          </p:nvPr>
        </p:nvSpPr>
        <p:spPr>
          <a:xfrm>
            <a:off x="3422264" y="145642"/>
            <a:ext cx="8911687" cy="661765"/>
          </a:xfrm>
        </p:spPr>
        <p:txBody>
          <a:bodyPr/>
          <a:lstStyle/>
          <a:p>
            <a:r>
              <a:rPr lang="fr-FR" dirty="0"/>
              <a:t>DIAGRAMME DE CLASSE</a:t>
            </a:r>
          </a:p>
        </p:txBody>
      </p:sp>
      <p:pic>
        <p:nvPicPr>
          <p:cNvPr id="4" name="Image 3">
            <a:extLst>
              <a:ext uri="{FF2B5EF4-FFF2-40B4-BE49-F238E27FC236}">
                <a16:creationId xmlns:a16="http://schemas.microsoft.com/office/drawing/2014/main" id="{6CDD2CEA-8A93-8EC4-84A1-B8B23B4D3E20}"/>
              </a:ext>
            </a:extLst>
          </p:cNvPr>
          <p:cNvPicPr>
            <a:picLocks noChangeAspect="1"/>
          </p:cNvPicPr>
          <p:nvPr/>
        </p:nvPicPr>
        <p:blipFill>
          <a:blip r:embed="rId2"/>
          <a:stretch>
            <a:fillRect/>
          </a:stretch>
        </p:blipFill>
        <p:spPr>
          <a:xfrm>
            <a:off x="3422264" y="1483568"/>
            <a:ext cx="8524460" cy="4432040"/>
          </a:xfrm>
          <a:prstGeom prst="rect">
            <a:avLst/>
          </a:prstGeom>
        </p:spPr>
      </p:pic>
    </p:spTree>
    <p:extLst>
      <p:ext uri="{BB962C8B-B14F-4D97-AF65-F5344CB8AC3E}">
        <p14:creationId xmlns:p14="http://schemas.microsoft.com/office/powerpoint/2010/main" val="2167189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1A0E6E-BA2A-4ACC-8AB9-F1D6A627DFF0}"/>
              </a:ext>
            </a:extLst>
          </p:cNvPr>
          <p:cNvSpPr>
            <a:spLocks noGrp="1"/>
          </p:cNvSpPr>
          <p:nvPr>
            <p:ph type="title"/>
          </p:nvPr>
        </p:nvSpPr>
        <p:spPr>
          <a:xfrm>
            <a:off x="2592925" y="624110"/>
            <a:ext cx="8911687" cy="614140"/>
          </a:xfrm>
        </p:spPr>
        <p:txBody>
          <a:bodyPr>
            <a:normAutofit fontScale="90000"/>
          </a:bodyPr>
          <a:lstStyle/>
          <a:p>
            <a:r>
              <a:rPr lang="fr-FR" dirty="0"/>
              <a:t>CONCLUSION</a:t>
            </a:r>
          </a:p>
        </p:txBody>
      </p:sp>
      <p:sp>
        <p:nvSpPr>
          <p:cNvPr id="3" name="Espace réservé du contenu 2">
            <a:extLst>
              <a:ext uri="{FF2B5EF4-FFF2-40B4-BE49-F238E27FC236}">
                <a16:creationId xmlns:a16="http://schemas.microsoft.com/office/drawing/2014/main" id="{793D7078-4432-4D58-94D7-EAE0839652D7}"/>
              </a:ext>
            </a:extLst>
          </p:cNvPr>
          <p:cNvSpPr>
            <a:spLocks noGrp="1"/>
          </p:cNvSpPr>
          <p:nvPr>
            <p:ph idx="1"/>
          </p:nvPr>
        </p:nvSpPr>
        <p:spPr>
          <a:xfrm>
            <a:off x="1626781" y="1336159"/>
            <a:ext cx="9881544" cy="3777622"/>
          </a:xfrm>
        </p:spPr>
        <p:txBody>
          <a:bodyPr>
            <a:normAutofit/>
          </a:bodyPr>
          <a:lstStyle/>
          <a:p>
            <a:pPr marL="0" indent="0" algn="just">
              <a:buNone/>
            </a:pPr>
            <a:r>
              <a:rPr lang="fr-FR" sz="2800" dirty="0"/>
              <a:t>Le projet </a:t>
            </a:r>
            <a:r>
              <a:rPr lang="fr-FR" sz="2800" b="1" dirty="0"/>
              <a:t>Distributed Log Collector (DLC)</a:t>
            </a:r>
            <a:r>
              <a:rPr lang="fr-FR" sz="2800" dirty="0"/>
              <a:t> s’inscrit pleinement dans les enjeux actuels des systèmes distribués et de la sécurité des systèmes d’information. Face à la dispersion croissante des journaux dans les infrastructures modernes, la solution proposée apporte une réponse efficace, structurée et sécurisée au problème de la centralisation, de la disponibilité et de l’exploitation des logs système.</a:t>
            </a:r>
          </a:p>
        </p:txBody>
      </p:sp>
    </p:spTree>
    <p:extLst>
      <p:ext uri="{BB962C8B-B14F-4D97-AF65-F5344CB8AC3E}">
        <p14:creationId xmlns:p14="http://schemas.microsoft.com/office/powerpoint/2010/main" val="1786420380"/>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TM02892315[[fn=Brin]]</Template>
  <TotalTime>264</TotalTime>
  <Words>722</Words>
  <Application>Microsoft Office PowerPoint</Application>
  <PresentationFormat>Grand écran</PresentationFormat>
  <Paragraphs>88</Paragraphs>
  <Slides>11</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11</vt:i4>
      </vt:variant>
    </vt:vector>
  </HeadingPairs>
  <TitlesOfParts>
    <vt:vector size="18" baseType="lpstr">
      <vt:lpstr>Arial</vt:lpstr>
      <vt:lpstr>Arial Unicode MS</vt:lpstr>
      <vt:lpstr>Century Gothic</vt:lpstr>
      <vt:lpstr>Urbanist</vt:lpstr>
      <vt:lpstr>Urbanist Medium</vt:lpstr>
      <vt:lpstr>Wingdings 3</vt:lpstr>
      <vt:lpstr>Brin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DIAGRAMME DE SEQUENCE</vt:lpstr>
      <vt:lpstr>DIAGRAMME DE SEQUENCE</vt:lpstr>
      <vt:lpstr>DIAGRAMME DE CLASSE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Yvan Raphaël</dc:creator>
  <cp:lastModifiedBy>Emilie Nana Ndieupe</cp:lastModifiedBy>
  <cp:revision>7</cp:revision>
  <dcterms:created xsi:type="dcterms:W3CDTF">2026-01-17T14:46:37Z</dcterms:created>
  <dcterms:modified xsi:type="dcterms:W3CDTF">2026-01-24T11:29:31Z</dcterms:modified>
</cp:coreProperties>
</file>
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5" r:id="rId9"/>
    <p:sldId id="270" r:id="rId10"/>
    <p:sldId id="27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5041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51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8755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171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45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19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58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705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641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14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28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0140F82-03B9-42D2-83EE-29465CAC14C0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2C14FC0-73B0-4DE2-9662-B693BBA6F20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489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4CC7C2-EF8E-4A30-91A1-776D0AE66D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79871" y="535598"/>
            <a:ext cx="4832257" cy="1392701"/>
          </a:xfrm>
          <a:prstGeom prst="rect">
            <a:avLst/>
          </a:prstGeom>
        </p:spPr>
      </p:pic>
      <p:sp>
        <p:nvSpPr>
          <p:cNvPr id="5" name="Google Shape;85;p13">
            <a:extLst>
              <a:ext uri="{FF2B5EF4-FFF2-40B4-BE49-F238E27FC236}">
                <a16:creationId xmlns:a16="http://schemas.microsoft.com/office/drawing/2014/main" id="{B650D637-4AA4-437C-B48E-92D84308E9E1}"/>
              </a:ext>
            </a:extLst>
          </p:cNvPr>
          <p:cNvSpPr txBox="1"/>
          <p:nvPr/>
        </p:nvSpPr>
        <p:spPr>
          <a:xfrm>
            <a:off x="295274" y="1928299"/>
            <a:ext cx="1160145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DISTRIBUTED LOG COLLECTOR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Cas OpenBSD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Google Shape;86;p13">
            <a:extLst>
              <a:ext uri="{FF2B5EF4-FFF2-40B4-BE49-F238E27FC236}">
                <a16:creationId xmlns:a16="http://schemas.microsoft.com/office/drawing/2014/main" id="{43312A2E-ADE3-494F-808F-14BA69045440}"/>
              </a:ext>
            </a:extLst>
          </p:cNvPr>
          <p:cNvSpPr txBox="1"/>
          <p:nvPr/>
        </p:nvSpPr>
        <p:spPr>
          <a:xfrm>
            <a:off x="533717" y="4281001"/>
            <a:ext cx="11124565" cy="149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Master 1 SSI</a:t>
            </a:r>
          </a:p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Cahier </a:t>
            </a:r>
            <a:r>
              <a:rPr lang="en-US" sz="2800" b="1" i="0" u="none" strike="noStrike" cap="none" dirty="0" err="1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d'Analyse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b="1" i="0" u="none" strike="noStrike" cap="none" dirty="0" err="1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Présenté</a:t>
            </a:r>
            <a:r>
              <a:rPr lang="en-US" sz="24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 par: NANA NDIEUPE Emilie &amp; </a:t>
            </a:r>
            <a:r>
              <a:rPr lang="en-US" sz="20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MONGUE YOSSI Yvan </a:t>
            </a:r>
            <a:endParaRPr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2A1F947-CA74-4A97-A429-27E7A047C303}"/>
              </a:ext>
            </a:extLst>
          </p:cNvPr>
          <p:cNvCxnSpPr>
            <a:cxnSpLocks/>
          </p:cNvCxnSpPr>
          <p:nvPr/>
        </p:nvCxnSpPr>
        <p:spPr>
          <a:xfrm>
            <a:off x="2562225" y="3238500"/>
            <a:ext cx="7067550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D935C74-F4C3-4C38-A4C2-FF5ED3CD5A57}"/>
              </a:ext>
            </a:extLst>
          </p:cNvPr>
          <p:cNvSpPr/>
          <p:nvPr/>
        </p:nvSpPr>
        <p:spPr>
          <a:xfrm>
            <a:off x="3339963" y="3321000"/>
            <a:ext cx="5512074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Sous l’encadrement de: M NGUIMBUS</a:t>
            </a:r>
            <a:endParaRPr lang="fr-FR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347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69D29-6EEE-4005-A8A2-584D54555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66775"/>
          </a:xfrm>
        </p:spPr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803937-6448-4FA2-9BD0-6CEB7BAD2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5999"/>
            <a:ext cx="10525125" cy="4162425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Bahnschrift" panose="020B0502040204020203" pitchFamily="34" charset="0"/>
              </a:rPr>
              <a:t>CONTEXTE ET JUSTIFICATION</a:t>
            </a:r>
          </a:p>
          <a:p>
            <a:r>
              <a:rPr lang="fr-FR" sz="3200" b="1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PROBLÉMATIQUE DE LA COLLECTE DISTRIBUÉE</a:t>
            </a:r>
            <a:endParaRPr lang="fr-FR" sz="3200" b="1" dirty="0">
              <a:latin typeface="Bahnschrift" panose="020B0502040204020203" pitchFamily="34" charset="0"/>
            </a:endParaRPr>
          </a:p>
          <a:p>
            <a:r>
              <a:rPr lang="fr-FR" sz="3200" b="1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OBJECTIFS DU PROJET</a:t>
            </a:r>
          </a:p>
          <a:p>
            <a:r>
              <a:rPr lang="fr-FR" sz="3200" b="1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DIAGRAMMES D'ANALYSE</a:t>
            </a:r>
          </a:p>
          <a:p>
            <a:r>
              <a:rPr lang="fr-FR" sz="3200" b="1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CONCLUSION DE L'ANALYSE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975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16EFF7-EDAD-4C8F-A45E-8316E898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04825"/>
          </a:xfrm>
        </p:spPr>
        <p:txBody>
          <a:bodyPr>
            <a:normAutofit/>
          </a:bodyPr>
          <a:lstStyle/>
          <a:p>
            <a:r>
              <a:rPr lang="fr-F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CONTEXTE ET JUSTIFICATION</a:t>
            </a: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8C7F68-7613-49F5-894F-75F7E17B6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problème :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Dans les infrastructures modernes (Cloud, Clusters), les logs sont dispersés sur plusieurs machines.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Conséquences :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Difficulté à diagnostiquer une panne globale.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Analyse de sécurité lente et fastidieuse.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Risque de perte de logs si un nœud tombe en panne.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solution :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Centraliser et indexer les événements en temps réel.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19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83E3BB-203C-4541-93AB-1EF2257B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09600"/>
          </a:xfrm>
        </p:spPr>
        <p:txBody>
          <a:bodyPr>
            <a:normAutofit fontScale="90000"/>
          </a:bodyPr>
          <a:lstStyle/>
          <a:p>
            <a:r>
              <a:rPr lang="fr-F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PROBLÉMATIQUE DE LA COLLECTE DISTRIBUÉE</a:t>
            </a:r>
            <a:b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A1C5A9-D12F-4D6A-9AF7-340FA1556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Disponibilité :</a:t>
            </a:r>
            <a:r>
              <a:rPr lang="fr-F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Comment garantir l'accès aux logs si la machine source est éteinte ?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Fiabilité du transport :</a:t>
            </a:r>
            <a:r>
              <a:rPr lang="fr-F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Comment s'assurer qu'aucun message n'est perdu lors d'une coupure réseau ?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Sécurité :</a:t>
            </a:r>
            <a:r>
              <a:rPr lang="fr-FR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Comment protéger l'intégrité des journaux contre les accès non autorisés ?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168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7FAFD-5A77-45AB-9227-3D557496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6250"/>
            <a:ext cx="9601200" cy="514350"/>
          </a:xfrm>
        </p:spPr>
        <p:txBody>
          <a:bodyPr>
            <a:normAutofit/>
          </a:bodyPr>
          <a:lstStyle/>
          <a:p>
            <a:r>
              <a:rPr lang="fr-FR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OBJECTIFS DU PROJET</a:t>
            </a: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B869C-718F-4AE3-B4DB-C2C390C5A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581400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 Principal :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Mettre en place un système robuste de centralisation des logs.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Objectifs Spécifiques :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Déploiement d'agents de collecte.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Serveur d'agrégation (Log </a:t>
            </a:r>
            <a:r>
              <a:rPr lang="fr-FR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Aggregator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Web pour la consultation des logs et des alertes.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Tolérance aux pannes :</a:t>
            </a:r>
            <a:r>
              <a:rPr lang="fr-FR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Mécanisme de retransmission automatique.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336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CF14E9-FBDB-4BF1-A889-584152D8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1719263"/>
            <a:ext cx="10115550" cy="752475"/>
          </a:xfrm>
        </p:spPr>
        <p:txBody>
          <a:bodyPr>
            <a:normAutofit fontScale="90000"/>
          </a:bodyPr>
          <a:lstStyle/>
          <a:p>
            <a:r>
              <a:rPr lang="fr-FR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DIAGRAMMES DE CAS D'UTILISATION </a:t>
            </a:r>
            <a:br>
              <a:rPr lang="fr-FR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41EA7EDA-D1B1-4BFB-AE9E-4B44B1FCF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100" y="2647950"/>
            <a:ext cx="9601200" cy="2110662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fr-F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Nous avons </a:t>
            </a:r>
            <a:r>
              <a:rPr lang="fr-FR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trois</a:t>
            </a:r>
            <a:r>
              <a:rPr lang="fr-F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acteurs:</a:t>
            </a:r>
          </a:p>
          <a:p>
            <a:pPr marL="742950" lvl="1" indent="-285750">
              <a:lnSpc>
                <a:spcPct val="12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Agent : Collecte, Envoi.</a:t>
            </a:r>
            <a:endParaRPr lang="fr-FR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Administrateur : Authentification, Consultation.</a:t>
            </a:r>
          </a:p>
          <a:p>
            <a:pPr marL="742950" lvl="1" indent="-285750">
              <a:lnSpc>
                <a:spcPct val="12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Aggregateur</a:t>
            </a:r>
            <a:r>
              <a:rPr lang="fr-FR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Reçevoir</a:t>
            </a:r>
            <a:r>
              <a:rPr lang="fr-FR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stocker et indexer les logs</a:t>
            </a:r>
            <a:endParaRPr lang="fr-FR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0736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5302B-44D3-4C2D-8E76-E4A6C3A7E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733425"/>
            <a:ext cx="11268075" cy="609600"/>
          </a:xfrm>
        </p:spPr>
        <p:txBody>
          <a:bodyPr>
            <a:noAutofit/>
          </a:bodyPr>
          <a:lstStyle/>
          <a:p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CAS D'UTILISATION : CONSULTER DES LOGS</a:t>
            </a:r>
            <a:br>
              <a:rPr kumimoji="0" lang="fr-FR" altLang="fr-F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fr-FR" sz="36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0AE6B93-9A39-49FE-8B25-1E3571E35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595803"/>
              </p:ext>
            </p:extLst>
          </p:nvPr>
        </p:nvGraphicFramePr>
        <p:xfrm>
          <a:off x="1085850" y="2011114"/>
          <a:ext cx="10610850" cy="43804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36950">
                  <a:extLst>
                    <a:ext uri="{9D8B030D-6E8A-4147-A177-3AD203B41FA5}">
                      <a16:colId xmlns:a16="http://schemas.microsoft.com/office/drawing/2014/main" val="21116276"/>
                    </a:ext>
                  </a:extLst>
                </a:gridCol>
                <a:gridCol w="3536950">
                  <a:extLst>
                    <a:ext uri="{9D8B030D-6E8A-4147-A177-3AD203B41FA5}">
                      <a16:colId xmlns:a16="http://schemas.microsoft.com/office/drawing/2014/main" val="1099409401"/>
                    </a:ext>
                  </a:extLst>
                </a:gridCol>
                <a:gridCol w="3536950">
                  <a:extLst>
                    <a:ext uri="{9D8B030D-6E8A-4147-A177-3AD203B41FA5}">
                      <a16:colId xmlns:a16="http://schemas.microsoft.com/office/drawing/2014/main" val="3474694349"/>
                    </a:ext>
                  </a:extLst>
                </a:gridCol>
              </a:tblGrid>
              <a:tr h="4402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Phase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Scénario Nominal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Scénario Alternatif / Exception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7331023"/>
                  </a:ext>
                </a:extLst>
              </a:tr>
              <a:tr h="4402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400" dirty="0" err="1">
                          <a:effectLst/>
                        </a:rPr>
                        <a:t>Pré-condition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L'administrateur est authentifié sur le Dashboard.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La base de données est inaccessible.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6696880"/>
                  </a:ext>
                </a:extLst>
              </a:tr>
              <a:tr h="8571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Étape 1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L'administrateur accède à la page d'accueil 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Le système affiche un message d'erreur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419532"/>
                  </a:ext>
                </a:extLst>
              </a:tr>
              <a:tr h="8571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Étape 2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Le système affiche la liste complète des logs par ordre chronologique.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L'administrateur vérifie l'état du service MariaDB.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0564955"/>
                  </a:ext>
                </a:extLst>
              </a:tr>
              <a:tr h="8571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Étape 3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L'administrateur sélectionne un filtre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Si aucun log ne correspond, le système affiche "Aucun résultat trouvé".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2610878"/>
                  </a:ext>
                </a:extLst>
              </a:tr>
              <a:tr h="4402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Étape 4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Le système rafraîchit la vue avec les données filtrées.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-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5650681"/>
                  </a:ext>
                </a:extLst>
              </a:tr>
              <a:tr h="4402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-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241904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F920F10-6C37-4C1A-A865-B7F6BBBBF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4" y="1518672"/>
            <a:ext cx="128492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Acteur principal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Administrateur SSI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Objectif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Visualiser les événements centralisés et isoler des incidents spécifiques via l'interface Web.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907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9F996-2E4F-47BB-A88C-E725774FC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26795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 D'UTILISATION : </a:t>
            </a:r>
            <a:r>
              <a:rPr lang="fr-FR" sz="3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COLLECTER LOGS</a:t>
            </a:r>
            <a:b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fr-FR" sz="280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AC8F598-4719-48CF-A177-CB74ED2CF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63154"/>
              </p:ext>
            </p:extLst>
          </p:nvPr>
        </p:nvGraphicFramePr>
        <p:xfrm>
          <a:off x="971550" y="1657350"/>
          <a:ext cx="10991850" cy="49849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3950">
                  <a:extLst>
                    <a:ext uri="{9D8B030D-6E8A-4147-A177-3AD203B41FA5}">
                      <a16:colId xmlns:a16="http://schemas.microsoft.com/office/drawing/2014/main" val="3820484147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2425777466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1406508519"/>
                    </a:ext>
                  </a:extLst>
                </a:gridCol>
              </a:tblGrid>
              <a:tr h="3815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Phase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Scénario Nominal (Succès)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Scénario d'Erreur (Mode Buffering)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71044973"/>
                  </a:ext>
                </a:extLst>
              </a:tr>
              <a:tr h="3815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Pré-condition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L'agent a les droits pour lire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Le serveur central (Aggregator) est hors-ligne.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7199494"/>
                  </a:ext>
                </a:extLst>
              </a:tr>
              <a:tr h="74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Étape 1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L'agent détecte une nouvelle ligne dans le fichier de logs.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L'agent tente de se connecter à un port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215116"/>
                  </a:ext>
                </a:extLst>
              </a:tr>
              <a:tr h="74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Étape 2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L'agent ouvre une socket TCP vers l'agrégateur.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L'agent écrit le log localement dans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4556680"/>
                  </a:ext>
                </a:extLst>
              </a:tr>
              <a:tr h="74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Étape 3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L'agent envoie les données formatées.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L'agent entre en cycle de surveillance pour détecter le retour du serveur.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52515324"/>
                  </a:ext>
                </a:extLst>
              </a:tr>
              <a:tr h="1104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Étape 4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L'agrégateur confirme la réception et l'agent passe au log suivant.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39805781"/>
                  </a:ext>
                </a:extLst>
              </a:tr>
              <a:tr h="74285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dirty="0" err="1">
                          <a:effectLst/>
                        </a:rPr>
                        <a:t>Post-condition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>
                          <a:effectLst/>
                        </a:rPr>
                        <a:t>Le log est indexé en base de données.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600" dirty="0">
                          <a:effectLst/>
                        </a:rPr>
                        <a:t>L'intégrité de la traçabilité est maintenue malgré la panne.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36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71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614F73D7-4ADD-46C0-B963-12A69366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26795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 D'UTILISATION : INDEXER LES LOGS</a:t>
            </a:r>
            <a:endParaRPr lang="fr-FR" sz="4800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B0D5DB3-D8F7-4667-8EEF-B9A46010016C}"/>
              </a:ext>
            </a:extLst>
          </p:cNvPr>
          <p:cNvSpPr txBox="1"/>
          <p:nvPr/>
        </p:nvSpPr>
        <p:spPr>
          <a:xfrm>
            <a:off x="4248150" y="13627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Acteur principal :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Serveur Agrégateur (Système)</a:t>
            </a:r>
          </a:p>
          <a:p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Objectif :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Recevoir les flux multiples et les organiser.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8567FAD-81E7-4B4A-AB53-99D751E5F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09951"/>
              </p:ext>
            </p:extLst>
          </p:nvPr>
        </p:nvGraphicFramePr>
        <p:xfrm>
          <a:off x="1371599" y="2371725"/>
          <a:ext cx="10182226" cy="3681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91113">
                  <a:extLst>
                    <a:ext uri="{9D8B030D-6E8A-4147-A177-3AD203B41FA5}">
                      <a16:colId xmlns:a16="http://schemas.microsoft.com/office/drawing/2014/main" val="1818733017"/>
                    </a:ext>
                  </a:extLst>
                </a:gridCol>
                <a:gridCol w="5091113">
                  <a:extLst>
                    <a:ext uri="{9D8B030D-6E8A-4147-A177-3AD203B41FA5}">
                      <a16:colId xmlns:a16="http://schemas.microsoft.com/office/drawing/2014/main" val="331479428"/>
                    </a:ext>
                  </a:extLst>
                </a:gridCol>
              </a:tblGrid>
              <a:tr h="5291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b="1" dirty="0">
                          <a:effectLst/>
                        </a:rPr>
                        <a:t>Élément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b="1">
                          <a:effectLst/>
                        </a:rPr>
                        <a:t>Description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7750980"/>
                  </a:ext>
                </a:extLst>
              </a:tr>
              <a:tr h="5291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b="1" dirty="0">
                          <a:effectLst/>
                        </a:rPr>
                        <a:t>Déclencheur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800" b="0" dirty="0">
                          <a:effectLst/>
                        </a:rPr>
                        <a:t>Réception d'une demande de connexion sur le port 2000.</a:t>
                      </a:r>
                      <a:endParaRPr lang="fr-FR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9413007"/>
                  </a:ext>
                </a:extLst>
              </a:tr>
              <a:tr h="1531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b="1" dirty="0">
                          <a:effectLst/>
                        </a:rPr>
                        <a:t>Flux principal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800" b="0" dirty="0">
                          <a:effectLst/>
                        </a:rPr>
                        <a:t>1. Réception de la chaîne de caractères.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800" b="0" dirty="0">
                          <a:effectLst/>
                        </a:rPr>
                        <a:t>2. Découpage de la chaîne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800" b="0" dirty="0">
                          <a:effectLst/>
                        </a:rPr>
                        <a:t>3. Insertion SQL dans la table</a:t>
                      </a:r>
                      <a:endParaRPr lang="fr-FR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4315955"/>
                  </a:ext>
                </a:extLst>
              </a:tr>
              <a:tr h="10301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fr-FR" sz="1600" b="1" dirty="0">
                          <a:effectLst/>
                        </a:rPr>
                        <a:t>Gestion d'exception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fr-FR" sz="1800" b="0" dirty="0">
                          <a:effectLst/>
                        </a:rPr>
                        <a:t>Si le format du log est invalide, l'agrégateur rejette le paquet et logue l'erreur de </a:t>
                      </a:r>
                      <a:r>
                        <a:rPr lang="fr-FR" sz="1800" b="0" dirty="0" err="1">
                          <a:effectLst/>
                        </a:rPr>
                        <a:t>parsing</a:t>
                      </a:r>
                      <a:r>
                        <a:rPr lang="fr-FR" sz="1800" b="0" dirty="0">
                          <a:effectLst/>
                        </a:rPr>
                        <a:t> localement pour éviter de corrompre la base.</a:t>
                      </a:r>
                      <a:endParaRPr lang="fr-FR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2969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4EC99C33-3F40-4E9D-A089-DCDE3286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9050"/>
            <a:ext cx="1026795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DIAGRAMME DE CAS D'UTILISATION</a:t>
            </a:r>
            <a:endParaRPr lang="fr-FR" sz="4800" b="1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A9ECD07-3A87-D433-D502-4928D1CC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95" y="1140473"/>
            <a:ext cx="8898780" cy="620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3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14D67B-8701-48DF-A10E-10648CD9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61975"/>
          </a:xfrm>
        </p:spPr>
        <p:txBody>
          <a:bodyPr>
            <a:normAutofit/>
          </a:bodyPr>
          <a:lstStyle/>
          <a:p>
            <a:r>
              <a:rPr lang="fr-FR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 DE L'ANALYSE</a:t>
            </a:r>
            <a:endParaRPr lang="fr-FR" sz="6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957049-160C-423C-88DD-51CE0018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47775"/>
            <a:ext cx="9601200" cy="4619625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 système DLC n'est pas seulement un collecteur, c'est un outil de résilience SSI.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permet de passer d'une gestion réactive à une surveillance proactive des infrastructures informatiques.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9137481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634</TotalTime>
  <Words>606</Words>
  <Application>Microsoft Office PowerPoint</Application>
  <PresentationFormat>Grand écran</PresentationFormat>
  <Paragraphs>95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1" baseType="lpstr">
      <vt:lpstr>Arial</vt:lpstr>
      <vt:lpstr>Bahnschrift</vt:lpstr>
      <vt:lpstr>Calibri</vt:lpstr>
      <vt:lpstr>Courier New</vt:lpstr>
      <vt:lpstr>Franklin Gothic Book</vt:lpstr>
      <vt:lpstr>Symbol</vt:lpstr>
      <vt:lpstr>Times New Roman</vt:lpstr>
      <vt:lpstr>Urbanist</vt:lpstr>
      <vt:lpstr>Urbanist Medium</vt:lpstr>
      <vt:lpstr>Cadrage</vt:lpstr>
      <vt:lpstr>Présentation PowerPoint</vt:lpstr>
      <vt:lpstr>SOMMAIRE</vt:lpstr>
      <vt:lpstr>CONTEXTE ET JUSTIFICATION</vt:lpstr>
      <vt:lpstr>PROBLÉMATIQUE DE LA COLLECTE DISTRIBUÉE </vt:lpstr>
      <vt:lpstr>OBJECTIFS DU PROJET</vt:lpstr>
      <vt:lpstr>DIAGRAMMES DE CAS D'UTILISATION  </vt:lpstr>
      <vt:lpstr>CAS D'UTILISATION : CONSULTER DES LOGS </vt:lpstr>
      <vt:lpstr>CAS D'UTILISATION : COLLECTER LOGS </vt:lpstr>
      <vt:lpstr>CAS D'UTILISATION : INDEXER LES LOGS</vt:lpstr>
      <vt:lpstr>DIAGRAMME DE CAS D'UTILISATION</vt:lpstr>
      <vt:lpstr>CONCLUSION DE L'ANALYSE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Yvan Raphaël</dc:creator>
  <cp:lastModifiedBy>Emilie Nana Ndieupe</cp:lastModifiedBy>
  <cp:revision>8</cp:revision>
  <dcterms:created xsi:type="dcterms:W3CDTF">2026-01-17T13:14:45Z</dcterms:created>
  <dcterms:modified xsi:type="dcterms:W3CDTF">2026-01-24T11:30:23Z</dcterms:modified>
</cp:coreProperties>
</file>